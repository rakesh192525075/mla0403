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57" r:id="rId3"/>
    <p:sldId id="258" r:id="rId4"/>
    <p:sldId id="271" r:id="rId5"/>
    <p:sldId id="259" r:id="rId6"/>
    <p:sldId id="260" r:id="rId7"/>
    <p:sldId id="268" r:id="rId8"/>
    <p:sldId id="261" r:id="rId9"/>
    <p:sldId id="262" r:id="rId10"/>
    <p:sldId id="263" r:id="rId11"/>
    <p:sldId id="272" r:id="rId12"/>
    <p:sldId id="273" r:id="rId13"/>
    <p:sldId id="265" r:id="rId14"/>
    <p:sldId id="269" r:id="rId15"/>
    <p:sldId id="266"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784" autoAdjust="0"/>
  </p:normalViewPr>
  <p:slideViewPr>
    <p:cSldViewPr snapToGrid="0">
      <p:cViewPr varScale="1">
        <p:scale>
          <a:sx n="77" d="100"/>
          <a:sy n="77" d="100"/>
        </p:scale>
        <p:origin x="91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017C3-1A82-C60D-0AE1-14B9D3C25A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700376-FB7A-9E67-B967-6F797B2A33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9BA4AF-B905-0340-97E0-688A5A6858AA}"/>
              </a:ext>
            </a:extLst>
          </p:cNvPr>
          <p:cNvSpPr>
            <a:spLocks noGrp="1"/>
          </p:cNvSpPr>
          <p:nvPr>
            <p:ph type="dt" sz="half" idx="10"/>
          </p:nvPr>
        </p:nvSpPr>
        <p:spPr/>
        <p:txBody>
          <a:bodyPr/>
          <a:lstStyle/>
          <a:p>
            <a:fld id="{9FFD5A60-64CA-4059-92F7-66C8BE608FF8}" type="datetimeFigureOut">
              <a:rPr lang="en-IN" smtClean="0"/>
              <a:t>11-08-2026</a:t>
            </a:fld>
            <a:endParaRPr lang="en-IN"/>
          </a:p>
        </p:txBody>
      </p:sp>
      <p:sp>
        <p:nvSpPr>
          <p:cNvPr id="5" name="Footer Placeholder 4">
            <a:extLst>
              <a:ext uri="{FF2B5EF4-FFF2-40B4-BE49-F238E27FC236}">
                <a16:creationId xmlns:a16="http://schemas.microsoft.com/office/drawing/2014/main" id="{281855C7-AF2B-4886-A0A6-A1FC9B3BA5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8B9C1E-E3FC-4DFC-9DC6-6F904BF0C1F2}"/>
              </a:ext>
            </a:extLst>
          </p:cNvPr>
          <p:cNvSpPr>
            <a:spLocks noGrp="1"/>
          </p:cNvSpPr>
          <p:nvPr>
            <p:ph type="sldNum" sz="quarter" idx="12"/>
          </p:nvPr>
        </p:nvSpPr>
        <p:spPr/>
        <p:txBody>
          <a:bodyPr/>
          <a:lstStyle/>
          <a:p>
            <a:fld id="{D5B14783-320B-4DB5-8368-C1C428537F01}" type="slidenum">
              <a:rPr lang="en-IN" smtClean="0"/>
              <a:t>‹#›</a:t>
            </a:fld>
            <a:endParaRPr lang="en-IN"/>
          </a:p>
        </p:txBody>
      </p:sp>
    </p:spTree>
    <p:extLst>
      <p:ext uri="{BB962C8B-B14F-4D97-AF65-F5344CB8AC3E}">
        <p14:creationId xmlns:p14="http://schemas.microsoft.com/office/powerpoint/2010/main" val="3437979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5ED98-E93C-4D50-E5B7-1BBA2B4A46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063580-0E04-35FD-2F3B-1C01541A8E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C99C5F-7C5D-E614-B8AA-E44D77D29C70}"/>
              </a:ext>
            </a:extLst>
          </p:cNvPr>
          <p:cNvSpPr>
            <a:spLocks noGrp="1"/>
          </p:cNvSpPr>
          <p:nvPr>
            <p:ph type="dt" sz="half" idx="10"/>
          </p:nvPr>
        </p:nvSpPr>
        <p:spPr/>
        <p:txBody>
          <a:bodyPr/>
          <a:lstStyle/>
          <a:p>
            <a:fld id="{9FFD5A60-64CA-4059-92F7-66C8BE608FF8}" type="datetimeFigureOut">
              <a:rPr lang="en-IN" smtClean="0"/>
              <a:t>11-08-2026</a:t>
            </a:fld>
            <a:endParaRPr lang="en-IN"/>
          </a:p>
        </p:txBody>
      </p:sp>
      <p:sp>
        <p:nvSpPr>
          <p:cNvPr id="5" name="Footer Placeholder 4">
            <a:extLst>
              <a:ext uri="{FF2B5EF4-FFF2-40B4-BE49-F238E27FC236}">
                <a16:creationId xmlns:a16="http://schemas.microsoft.com/office/drawing/2014/main" id="{DF4ABE91-D381-E798-4D1F-56D3AB4503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C51DE3-76D2-9234-8F35-18CAF00D05FC}"/>
              </a:ext>
            </a:extLst>
          </p:cNvPr>
          <p:cNvSpPr>
            <a:spLocks noGrp="1"/>
          </p:cNvSpPr>
          <p:nvPr>
            <p:ph type="sldNum" sz="quarter" idx="12"/>
          </p:nvPr>
        </p:nvSpPr>
        <p:spPr/>
        <p:txBody>
          <a:bodyPr/>
          <a:lstStyle/>
          <a:p>
            <a:fld id="{D5B14783-320B-4DB5-8368-C1C428537F01}" type="slidenum">
              <a:rPr lang="en-IN" smtClean="0"/>
              <a:t>‹#›</a:t>
            </a:fld>
            <a:endParaRPr lang="en-IN"/>
          </a:p>
        </p:txBody>
      </p:sp>
    </p:spTree>
    <p:extLst>
      <p:ext uri="{BB962C8B-B14F-4D97-AF65-F5344CB8AC3E}">
        <p14:creationId xmlns:p14="http://schemas.microsoft.com/office/powerpoint/2010/main" val="2847648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D567B-66D1-0502-BB4A-24D3B441A4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976EE5-E15D-B7A1-DC4D-348E37F9E7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7972A6-0657-25D6-61C5-6A529C5240D5}"/>
              </a:ext>
            </a:extLst>
          </p:cNvPr>
          <p:cNvSpPr>
            <a:spLocks noGrp="1"/>
          </p:cNvSpPr>
          <p:nvPr>
            <p:ph type="dt" sz="half" idx="10"/>
          </p:nvPr>
        </p:nvSpPr>
        <p:spPr/>
        <p:txBody>
          <a:bodyPr/>
          <a:lstStyle/>
          <a:p>
            <a:fld id="{9FFD5A60-64CA-4059-92F7-66C8BE608FF8}" type="datetimeFigureOut">
              <a:rPr lang="en-IN" smtClean="0"/>
              <a:t>11-08-2026</a:t>
            </a:fld>
            <a:endParaRPr lang="en-IN"/>
          </a:p>
        </p:txBody>
      </p:sp>
      <p:sp>
        <p:nvSpPr>
          <p:cNvPr id="5" name="Footer Placeholder 4">
            <a:extLst>
              <a:ext uri="{FF2B5EF4-FFF2-40B4-BE49-F238E27FC236}">
                <a16:creationId xmlns:a16="http://schemas.microsoft.com/office/drawing/2014/main" id="{D7CB61D6-91CB-94FF-3CEC-5BD0E7311C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9EC97-4F97-BF5C-A60B-BEC5A025C7A1}"/>
              </a:ext>
            </a:extLst>
          </p:cNvPr>
          <p:cNvSpPr>
            <a:spLocks noGrp="1"/>
          </p:cNvSpPr>
          <p:nvPr>
            <p:ph type="sldNum" sz="quarter" idx="12"/>
          </p:nvPr>
        </p:nvSpPr>
        <p:spPr/>
        <p:txBody>
          <a:bodyPr/>
          <a:lstStyle/>
          <a:p>
            <a:fld id="{D5B14783-320B-4DB5-8368-C1C428537F01}" type="slidenum">
              <a:rPr lang="en-IN" smtClean="0"/>
              <a:t>‹#›</a:t>
            </a:fld>
            <a:endParaRPr lang="en-IN"/>
          </a:p>
        </p:txBody>
      </p:sp>
    </p:spTree>
    <p:extLst>
      <p:ext uri="{BB962C8B-B14F-4D97-AF65-F5344CB8AC3E}">
        <p14:creationId xmlns:p14="http://schemas.microsoft.com/office/powerpoint/2010/main" val="2223866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BA3FC-A4C8-5AF2-6516-F68892CA9D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DDE227-573A-176B-C342-6681436C36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F4EFB1-C157-E824-8F3D-F2682E31DB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2028E1-78C3-1B14-630A-BFA51D9D9EFB}"/>
              </a:ext>
            </a:extLst>
          </p:cNvPr>
          <p:cNvSpPr>
            <a:spLocks noGrp="1"/>
          </p:cNvSpPr>
          <p:nvPr>
            <p:ph type="dt" sz="half" idx="10"/>
          </p:nvPr>
        </p:nvSpPr>
        <p:spPr/>
        <p:txBody>
          <a:bodyPr/>
          <a:lstStyle/>
          <a:p>
            <a:fld id="{9FFD5A60-64CA-4059-92F7-66C8BE608FF8}" type="datetimeFigureOut">
              <a:rPr lang="en-IN" smtClean="0"/>
              <a:t>11-08-2026</a:t>
            </a:fld>
            <a:endParaRPr lang="en-IN"/>
          </a:p>
        </p:txBody>
      </p:sp>
      <p:sp>
        <p:nvSpPr>
          <p:cNvPr id="6" name="Footer Placeholder 5">
            <a:extLst>
              <a:ext uri="{FF2B5EF4-FFF2-40B4-BE49-F238E27FC236}">
                <a16:creationId xmlns:a16="http://schemas.microsoft.com/office/drawing/2014/main" id="{68006912-1072-F337-D396-9D1CCF0A3B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01B593-8F90-0C64-6169-281FE66FA1A1}"/>
              </a:ext>
            </a:extLst>
          </p:cNvPr>
          <p:cNvSpPr>
            <a:spLocks noGrp="1"/>
          </p:cNvSpPr>
          <p:nvPr>
            <p:ph type="sldNum" sz="quarter" idx="12"/>
          </p:nvPr>
        </p:nvSpPr>
        <p:spPr/>
        <p:txBody>
          <a:bodyPr/>
          <a:lstStyle/>
          <a:p>
            <a:fld id="{D5B14783-320B-4DB5-8368-C1C428537F01}" type="slidenum">
              <a:rPr lang="en-IN" smtClean="0"/>
              <a:t>‹#›</a:t>
            </a:fld>
            <a:endParaRPr lang="en-IN"/>
          </a:p>
        </p:txBody>
      </p:sp>
    </p:spTree>
    <p:extLst>
      <p:ext uri="{BB962C8B-B14F-4D97-AF65-F5344CB8AC3E}">
        <p14:creationId xmlns:p14="http://schemas.microsoft.com/office/powerpoint/2010/main" val="2782272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1B1EF-2588-31CD-6418-B06613099E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887204-EF5B-9307-40D5-D921FC58ED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745601-80C5-417E-352B-A874B5B590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4902FE-7E81-17E0-D5DD-7105DE14CF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5F970D-9E9E-7998-DE49-C2A89CFF21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1F2435-694D-1CC7-7F1E-3E7F1FF75045}"/>
              </a:ext>
            </a:extLst>
          </p:cNvPr>
          <p:cNvSpPr>
            <a:spLocks noGrp="1"/>
          </p:cNvSpPr>
          <p:nvPr>
            <p:ph type="dt" sz="half" idx="10"/>
          </p:nvPr>
        </p:nvSpPr>
        <p:spPr/>
        <p:txBody>
          <a:bodyPr/>
          <a:lstStyle/>
          <a:p>
            <a:fld id="{9FFD5A60-64CA-4059-92F7-66C8BE608FF8}" type="datetimeFigureOut">
              <a:rPr lang="en-IN" smtClean="0"/>
              <a:t>11-08-2026</a:t>
            </a:fld>
            <a:endParaRPr lang="en-IN"/>
          </a:p>
        </p:txBody>
      </p:sp>
      <p:sp>
        <p:nvSpPr>
          <p:cNvPr id="8" name="Footer Placeholder 7">
            <a:extLst>
              <a:ext uri="{FF2B5EF4-FFF2-40B4-BE49-F238E27FC236}">
                <a16:creationId xmlns:a16="http://schemas.microsoft.com/office/drawing/2014/main" id="{6B2543A2-2992-A0DB-B3F4-E78D207BD1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16EB51-9F81-1891-FB45-52B3F524B979}"/>
              </a:ext>
            </a:extLst>
          </p:cNvPr>
          <p:cNvSpPr>
            <a:spLocks noGrp="1"/>
          </p:cNvSpPr>
          <p:nvPr>
            <p:ph type="sldNum" sz="quarter" idx="12"/>
          </p:nvPr>
        </p:nvSpPr>
        <p:spPr/>
        <p:txBody>
          <a:bodyPr/>
          <a:lstStyle/>
          <a:p>
            <a:fld id="{D5B14783-320B-4DB5-8368-C1C428537F01}" type="slidenum">
              <a:rPr lang="en-IN" smtClean="0"/>
              <a:t>‹#›</a:t>
            </a:fld>
            <a:endParaRPr lang="en-IN"/>
          </a:p>
        </p:txBody>
      </p:sp>
    </p:spTree>
    <p:extLst>
      <p:ext uri="{BB962C8B-B14F-4D97-AF65-F5344CB8AC3E}">
        <p14:creationId xmlns:p14="http://schemas.microsoft.com/office/powerpoint/2010/main" val="240959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A3563-715F-2A20-E281-81DAE78AFF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C5D0487-EEA8-0C90-501E-3561B68A5BE3}"/>
              </a:ext>
            </a:extLst>
          </p:cNvPr>
          <p:cNvSpPr>
            <a:spLocks noGrp="1"/>
          </p:cNvSpPr>
          <p:nvPr>
            <p:ph type="dt" sz="half" idx="10"/>
          </p:nvPr>
        </p:nvSpPr>
        <p:spPr/>
        <p:txBody>
          <a:bodyPr/>
          <a:lstStyle/>
          <a:p>
            <a:fld id="{9FFD5A60-64CA-4059-92F7-66C8BE608FF8}" type="datetimeFigureOut">
              <a:rPr lang="en-IN" smtClean="0"/>
              <a:t>11-08-2026</a:t>
            </a:fld>
            <a:endParaRPr lang="en-IN"/>
          </a:p>
        </p:txBody>
      </p:sp>
      <p:sp>
        <p:nvSpPr>
          <p:cNvPr id="4" name="Footer Placeholder 3">
            <a:extLst>
              <a:ext uri="{FF2B5EF4-FFF2-40B4-BE49-F238E27FC236}">
                <a16:creationId xmlns:a16="http://schemas.microsoft.com/office/drawing/2014/main" id="{D0980FC7-CB03-FFCB-02DD-6B449F1F083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D1E9413-B69C-3A9D-C53C-52310ABDCCCD}"/>
              </a:ext>
            </a:extLst>
          </p:cNvPr>
          <p:cNvSpPr>
            <a:spLocks noGrp="1"/>
          </p:cNvSpPr>
          <p:nvPr>
            <p:ph type="sldNum" sz="quarter" idx="12"/>
          </p:nvPr>
        </p:nvSpPr>
        <p:spPr/>
        <p:txBody>
          <a:bodyPr/>
          <a:lstStyle/>
          <a:p>
            <a:fld id="{D5B14783-320B-4DB5-8368-C1C428537F01}" type="slidenum">
              <a:rPr lang="en-IN" smtClean="0"/>
              <a:t>‹#›</a:t>
            </a:fld>
            <a:endParaRPr lang="en-IN"/>
          </a:p>
        </p:txBody>
      </p:sp>
    </p:spTree>
    <p:extLst>
      <p:ext uri="{BB962C8B-B14F-4D97-AF65-F5344CB8AC3E}">
        <p14:creationId xmlns:p14="http://schemas.microsoft.com/office/powerpoint/2010/main" val="438212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747209-4CA1-28DB-04D8-D5A6D8E64073}"/>
              </a:ext>
            </a:extLst>
          </p:cNvPr>
          <p:cNvSpPr>
            <a:spLocks noGrp="1"/>
          </p:cNvSpPr>
          <p:nvPr>
            <p:ph type="dt" sz="half" idx="10"/>
          </p:nvPr>
        </p:nvSpPr>
        <p:spPr/>
        <p:txBody>
          <a:bodyPr/>
          <a:lstStyle/>
          <a:p>
            <a:fld id="{9FFD5A60-64CA-4059-92F7-66C8BE608FF8}" type="datetimeFigureOut">
              <a:rPr lang="en-IN" smtClean="0"/>
              <a:t>11-08-2026</a:t>
            </a:fld>
            <a:endParaRPr lang="en-IN"/>
          </a:p>
        </p:txBody>
      </p:sp>
      <p:sp>
        <p:nvSpPr>
          <p:cNvPr id="3" name="Footer Placeholder 2">
            <a:extLst>
              <a:ext uri="{FF2B5EF4-FFF2-40B4-BE49-F238E27FC236}">
                <a16:creationId xmlns:a16="http://schemas.microsoft.com/office/drawing/2014/main" id="{2651EB2B-4C06-B1F7-4B53-65B05AA68AE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B3ABF25-E220-837C-7202-6D3FC0332986}"/>
              </a:ext>
            </a:extLst>
          </p:cNvPr>
          <p:cNvSpPr>
            <a:spLocks noGrp="1"/>
          </p:cNvSpPr>
          <p:nvPr>
            <p:ph type="sldNum" sz="quarter" idx="12"/>
          </p:nvPr>
        </p:nvSpPr>
        <p:spPr/>
        <p:txBody>
          <a:bodyPr/>
          <a:lstStyle/>
          <a:p>
            <a:fld id="{D5B14783-320B-4DB5-8368-C1C428537F01}" type="slidenum">
              <a:rPr lang="en-IN" smtClean="0"/>
              <a:t>‹#›</a:t>
            </a:fld>
            <a:endParaRPr lang="en-IN"/>
          </a:p>
        </p:txBody>
      </p:sp>
    </p:spTree>
    <p:extLst>
      <p:ext uri="{BB962C8B-B14F-4D97-AF65-F5344CB8AC3E}">
        <p14:creationId xmlns:p14="http://schemas.microsoft.com/office/powerpoint/2010/main" val="1944108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4B158-2851-854A-4D4E-D68744B5CA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CD61F0-21F5-E413-3A4A-3384641A3F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6EDC1E2-899C-6E6A-AA96-C67DD169FF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F6F02F-FC55-DB89-08DA-EBF0DF2864B9}"/>
              </a:ext>
            </a:extLst>
          </p:cNvPr>
          <p:cNvSpPr>
            <a:spLocks noGrp="1"/>
          </p:cNvSpPr>
          <p:nvPr>
            <p:ph type="dt" sz="half" idx="10"/>
          </p:nvPr>
        </p:nvSpPr>
        <p:spPr/>
        <p:txBody>
          <a:bodyPr/>
          <a:lstStyle/>
          <a:p>
            <a:fld id="{9FFD5A60-64CA-4059-92F7-66C8BE608FF8}" type="datetimeFigureOut">
              <a:rPr lang="en-IN" smtClean="0"/>
              <a:t>11-08-2026</a:t>
            </a:fld>
            <a:endParaRPr lang="en-IN"/>
          </a:p>
        </p:txBody>
      </p:sp>
      <p:sp>
        <p:nvSpPr>
          <p:cNvPr id="6" name="Footer Placeholder 5">
            <a:extLst>
              <a:ext uri="{FF2B5EF4-FFF2-40B4-BE49-F238E27FC236}">
                <a16:creationId xmlns:a16="http://schemas.microsoft.com/office/drawing/2014/main" id="{981457F0-895D-D779-517E-2378B391DD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3ECFDF-994B-E533-1037-D18C276C9F7E}"/>
              </a:ext>
            </a:extLst>
          </p:cNvPr>
          <p:cNvSpPr>
            <a:spLocks noGrp="1"/>
          </p:cNvSpPr>
          <p:nvPr>
            <p:ph type="sldNum" sz="quarter" idx="12"/>
          </p:nvPr>
        </p:nvSpPr>
        <p:spPr/>
        <p:txBody>
          <a:bodyPr/>
          <a:lstStyle/>
          <a:p>
            <a:fld id="{D5B14783-320B-4DB5-8368-C1C428537F01}" type="slidenum">
              <a:rPr lang="en-IN" smtClean="0"/>
              <a:t>‹#›</a:t>
            </a:fld>
            <a:endParaRPr lang="en-IN"/>
          </a:p>
        </p:txBody>
      </p:sp>
    </p:spTree>
    <p:extLst>
      <p:ext uri="{BB962C8B-B14F-4D97-AF65-F5344CB8AC3E}">
        <p14:creationId xmlns:p14="http://schemas.microsoft.com/office/powerpoint/2010/main" val="2516123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B480E-666C-68BD-128E-A40733402E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2D95B9-ADAE-8CA4-C8BF-15AEE25341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76B25C-2ED8-7B36-0D3F-0C760CCE9F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78CC5D-1D0D-0FE5-6A9A-862E40713BB9}"/>
              </a:ext>
            </a:extLst>
          </p:cNvPr>
          <p:cNvSpPr>
            <a:spLocks noGrp="1"/>
          </p:cNvSpPr>
          <p:nvPr>
            <p:ph type="dt" sz="half" idx="10"/>
          </p:nvPr>
        </p:nvSpPr>
        <p:spPr/>
        <p:txBody>
          <a:bodyPr/>
          <a:lstStyle/>
          <a:p>
            <a:fld id="{9FFD5A60-64CA-4059-92F7-66C8BE608FF8}" type="datetimeFigureOut">
              <a:rPr lang="en-IN" smtClean="0"/>
              <a:t>11-08-2026</a:t>
            </a:fld>
            <a:endParaRPr lang="en-IN"/>
          </a:p>
        </p:txBody>
      </p:sp>
      <p:sp>
        <p:nvSpPr>
          <p:cNvPr id="6" name="Footer Placeholder 5">
            <a:extLst>
              <a:ext uri="{FF2B5EF4-FFF2-40B4-BE49-F238E27FC236}">
                <a16:creationId xmlns:a16="http://schemas.microsoft.com/office/drawing/2014/main" id="{2B3A2D2F-D933-CEE4-6B14-75B3333BFF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8B8678-CD81-1AA8-9BA3-399ADE4DC23D}"/>
              </a:ext>
            </a:extLst>
          </p:cNvPr>
          <p:cNvSpPr>
            <a:spLocks noGrp="1"/>
          </p:cNvSpPr>
          <p:nvPr>
            <p:ph type="sldNum" sz="quarter" idx="12"/>
          </p:nvPr>
        </p:nvSpPr>
        <p:spPr/>
        <p:txBody>
          <a:bodyPr/>
          <a:lstStyle/>
          <a:p>
            <a:fld id="{D5B14783-320B-4DB5-8368-C1C428537F01}" type="slidenum">
              <a:rPr lang="en-IN" smtClean="0"/>
              <a:t>‹#›</a:t>
            </a:fld>
            <a:endParaRPr lang="en-IN"/>
          </a:p>
        </p:txBody>
      </p:sp>
    </p:spTree>
    <p:extLst>
      <p:ext uri="{BB962C8B-B14F-4D97-AF65-F5344CB8AC3E}">
        <p14:creationId xmlns:p14="http://schemas.microsoft.com/office/powerpoint/2010/main" val="3900965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CD61A-4353-1A1A-B126-D8A5C35F0D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5050BA-BBA5-71EE-EF5C-EBA9948052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EE81E1-B9F2-5162-A053-F24EE627C1B6}"/>
              </a:ext>
            </a:extLst>
          </p:cNvPr>
          <p:cNvSpPr>
            <a:spLocks noGrp="1"/>
          </p:cNvSpPr>
          <p:nvPr>
            <p:ph type="dt" sz="half" idx="10"/>
          </p:nvPr>
        </p:nvSpPr>
        <p:spPr/>
        <p:txBody>
          <a:bodyPr/>
          <a:lstStyle/>
          <a:p>
            <a:fld id="{9FFD5A60-64CA-4059-92F7-66C8BE608FF8}" type="datetimeFigureOut">
              <a:rPr lang="en-IN" smtClean="0"/>
              <a:t>11-08-2026</a:t>
            </a:fld>
            <a:endParaRPr lang="en-IN"/>
          </a:p>
        </p:txBody>
      </p:sp>
      <p:sp>
        <p:nvSpPr>
          <p:cNvPr id="5" name="Footer Placeholder 4">
            <a:extLst>
              <a:ext uri="{FF2B5EF4-FFF2-40B4-BE49-F238E27FC236}">
                <a16:creationId xmlns:a16="http://schemas.microsoft.com/office/drawing/2014/main" id="{93988540-0234-21FD-3C41-98E05D3FBD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F6AFE8-769E-409E-7B10-2B0EC21E136A}"/>
              </a:ext>
            </a:extLst>
          </p:cNvPr>
          <p:cNvSpPr>
            <a:spLocks noGrp="1"/>
          </p:cNvSpPr>
          <p:nvPr>
            <p:ph type="sldNum" sz="quarter" idx="12"/>
          </p:nvPr>
        </p:nvSpPr>
        <p:spPr/>
        <p:txBody>
          <a:bodyPr/>
          <a:lstStyle/>
          <a:p>
            <a:fld id="{D5B14783-320B-4DB5-8368-C1C428537F01}" type="slidenum">
              <a:rPr lang="en-IN" smtClean="0"/>
              <a:t>‹#›</a:t>
            </a:fld>
            <a:endParaRPr lang="en-IN"/>
          </a:p>
        </p:txBody>
      </p:sp>
    </p:spTree>
    <p:extLst>
      <p:ext uri="{BB962C8B-B14F-4D97-AF65-F5344CB8AC3E}">
        <p14:creationId xmlns:p14="http://schemas.microsoft.com/office/powerpoint/2010/main" val="1025716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4415DD-25AD-3CA6-AF3C-D0B979A39F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BCDC0F-D135-CEAA-DD3A-476BE43C93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0003F7-F243-0493-0B48-F92F9AEE95DF}"/>
              </a:ext>
            </a:extLst>
          </p:cNvPr>
          <p:cNvSpPr>
            <a:spLocks noGrp="1"/>
          </p:cNvSpPr>
          <p:nvPr>
            <p:ph type="dt" sz="half" idx="10"/>
          </p:nvPr>
        </p:nvSpPr>
        <p:spPr/>
        <p:txBody>
          <a:bodyPr/>
          <a:lstStyle/>
          <a:p>
            <a:fld id="{9FFD5A60-64CA-4059-92F7-66C8BE608FF8}" type="datetimeFigureOut">
              <a:rPr lang="en-IN" smtClean="0"/>
              <a:t>11-08-2026</a:t>
            </a:fld>
            <a:endParaRPr lang="en-IN"/>
          </a:p>
        </p:txBody>
      </p:sp>
      <p:sp>
        <p:nvSpPr>
          <p:cNvPr id="5" name="Footer Placeholder 4">
            <a:extLst>
              <a:ext uri="{FF2B5EF4-FFF2-40B4-BE49-F238E27FC236}">
                <a16:creationId xmlns:a16="http://schemas.microsoft.com/office/drawing/2014/main" id="{1338C6C6-48A5-2244-CDD9-F7AB1FA806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592A5C-1B22-A5A3-F3E7-96C496064263}"/>
              </a:ext>
            </a:extLst>
          </p:cNvPr>
          <p:cNvSpPr>
            <a:spLocks noGrp="1"/>
          </p:cNvSpPr>
          <p:nvPr>
            <p:ph type="sldNum" sz="quarter" idx="12"/>
          </p:nvPr>
        </p:nvSpPr>
        <p:spPr/>
        <p:txBody>
          <a:bodyPr/>
          <a:lstStyle/>
          <a:p>
            <a:fld id="{D5B14783-320B-4DB5-8368-C1C428537F01}" type="slidenum">
              <a:rPr lang="en-IN" smtClean="0"/>
              <a:t>‹#›</a:t>
            </a:fld>
            <a:endParaRPr lang="en-IN"/>
          </a:p>
        </p:txBody>
      </p:sp>
    </p:spTree>
    <p:extLst>
      <p:ext uri="{BB962C8B-B14F-4D97-AF65-F5344CB8AC3E}">
        <p14:creationId xmlns:p14="http://schemas.microsoft.com/office/powerpoint/2010/main" val="1942630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FD4CCE-CDD8-ABAE-B382-86B2054CB8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740FDEE-6484-BFD1-56D3-2B2DF07FDD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F9C60A-051E-CB37-43A1-69B5E43FAB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FD5A60-64CA-4059-92F7-66C8BE608FF8}" type="datetimeFigureOut">
              <a:rPr lang="en-IN" smtClean="0"/>
              <a:t>11-08-2026</a:t>
            </a:fld>
            <a:endParaRPr lang="en-IN"/>
          </a:p>
        </p:txBody>
      </p:sp>
      <p:sp>
        <p:nvSpPr>
          <p:cNvPr id="5" name="Footer Placeholder 4">
            <a:extLst>
              <a:ext uri="{FF2B5EF4-FFF2-40B4-BE49-F238E27FC236}">
                <a16:creationId xmlns:a16="http://schemas.microsoft.com/office/drawing/2014/main" id="{07FB243C-DDA5-4086-C974-DE332EA731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44B20F7-05C5-7C5F-2AE9-0BD4F129DE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B14783-320B-4DB5-8368-C1C428537F01}" type="slidenum">
              <a:rPr lang="en-IN" smtClean="0"/>
              <a:t>‹#›</a:t>
            </a:fld>
            <a:endParaRPr lang="en-IN"/>
          </a:p>
        </p:txBody>
      </p:sp>
    </p:spTree>
    <p:extLst>
      <p:ext uri="{BB962C8B-B14F-4D97-AF65-F5344CB8AC3E}">
        <p14:creationId xmlns:p14="http://schemas.microsoft.com/office/powerpoint/2010/main" val="3476480957"/>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s://onlinelibrary.wiley.com/doi/10.1111/jori.12359?utm_source=chatgpt.com" TargetMode="External"/><Relationship Id="rId7" Type="http://schemas.openxmlformats.org/officeDocument/2006/relationships/hyperlink" Target="https://www.researchgate.net/publication/390302996_DATA_WAREHOUSING_AI_AND_PC_INSURANCE_A_TRANSFORMATIVE_APPROACH?utm_source=chatgpt.com"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www.mdpi.com/2076-3417/15/16/8869?utm_source=chatgpt.com" TargetMode="External"/><Relationship Id="rId5" Type="http://schemas.openxmlformats.org/officeDocument/2006/relationships/hyperlink" Target="https://doi.org/10.3390/app15168869" TargetMode="External"/><Relationship Id="rId4" Type="http://schemas.openxmlformats.org/officeDocument/2006/relationships/hyperlink" Target="https://www.nature.com/articles/s41598-025-12848-0?utm_source=chatgpt.co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74468-E651-4B23-A056-BED6A23D8560}"/>
              </a:ext>
            </a:extLst>
          </p:cNvPr>
          <p:cNvSpPr>
            <a:spLocks noGrp="1"/>
          </p:cNvSpPr>
          <p:nvPr>
            <p:ph type="ctrTitle"/>
          </p:nvPr>
        </p:nvSpPr>
        <p:spPr>
          <a:xfrm>
            <a:off x="619432" y="1330026"/>
            <a:ext cx="11102008" cy="2504663"/>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AI-Powered Insurance Claim Fraud Detection and Risk Analytics Platform</a:t>
            </a:r>
            <a:endParaRPr lang="en-IN" sz="2200" dirty="0">
              <a:latin typeface="Times New Roman" panose="02020603050405020304" pitchFamily="18" charset="0"/>
              <a:cs typeface="Times New Roman" panose="02020603050405020304" pitchFamily="18" charset="0"/>
            </a:endParaRPr>
          </a:p>
        </p:txBody>
      </p:sp>
      <p:pic>
        <p:nvPicPr>
          <p:cNvPr id="4" name="Picture 3" descr="SSE-Computer Science and Engineering">
            <a:extLst>
              <a:ext uri="{FF2B5EF4-FFF2-40B4-BE49-F238E27FC236}">
                <a16:creationId xmlns:a16="http://schemas.microsoft.com/office/drawing/2014/main" id="{ECA33DDB-74FB-C065-1617-2E14A696F0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9432" y="492483"/>
            <a:ext cx="10953135" cy="11602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5A82D86-5325-0452-5AEB-94DA0B63E545}"/>
              </a:ext>
            </a:extLst>
          </p:cNvPr>
          <p:cNvSpPr txBox="1"/>
          <p:nvPr/>
        </p:nvSpPr>
        <p:spPr>
          <a:xfrm>
            <a:off x="6518787" y="4513007"/>
            <a:ext cx="5128217" cy="1938992"/>
          </a:xfrm>
          <a:prstGeom prst="rect">
            <a:avLst/>
          </a:prstGeom>
          <a:noFill/>
        </p:spPr>
        <p:txBody>
          <a:bodyPr wrap="square" rtlCol="0">
            <a:spAutoFit/>
          </a:bodyPr>
          <a:lstStyle/>
          <a:p>
            <a:pPr lvl="1"/>
            <a:r>
              <a:rPr lang="en-US" sz="2000" dirty="0">
                <a:latin typeface="Times New Roman" panose="02020603050405020304" pitchFamily="18" charset="0"/>
                <a:cs typeface="Times New Roman" panose="02020603050405020304" pitchFamily="18" charset="0"/>
              </a:rPr>
              <a:t>Presented by:</a:t>
            </a:r>
          </a:p>
          <a:p>
            <a:pPr lvl="1"/>
            <a:r>
              <a:rPr lang="en-US" sz="2000" dirty="0">
                <a:latin typeface="Times New Roman" panose="02020603050405020304" pitchFamily="18" charset="0"/>
                <a:cs typeface="Times New Roman" panose="02020603050405020304" pitchFamily="18" charset="0"/>
              </a:rPr>
              <a:t>                     K . Rakesh (192525075)</a:t>
            </a:r>
          </a:p>
          <a:p>
            <a:pPr lvl="1"/>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M.Mohan</a:t>
            </a:r>
            <a:r>
              <a:rPr lang="en-US" sz="2000" dirty="0">
                <a:latin typeface="Times New Roman" panose="02020603050405020304" pitchFamily="18" charset="0"/>
                <a:cs typeface="Times New Roman" panose="02020603050405020304" pitchFamily="18" charset="0"/>
              </a:rPr>
              <a:t> siva(192573011)</a:t>
            </a:r>
          </a:p>
          <a:p>
            <a:pPr lvl="1"/>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Nandheesa</a:t>
            </a:r>
            <a:r>
              <a:rPr lang="en-US" sz="2000" dirty="0">
                <a:latin typeface="Times New Roman" panose="02020603050405020304" pitchFamily="18" charset="0"/>
                <a:cs typeface="Times New Roman" panose="02020603050405020304" pitchFamily="18" charset="0"/>
              </a:rPr>
              <a:t> prasad(192511181)</a:t>
            </a:r>
          </a:p>
          <a:p>
            <a:pPr lvl="1"/>
            <a:r>
              <a:rPr lang="en-US" sz="2000" dirty="0">
                <a:latin typeface="Times New Roman" panose="02020603050405020304" pitchFamily="18" charset="0"/>
                <a:cs typeface="Times New Roman" panose="02020603050405020304" pitchFamily="18" charset="0"/>
              </a:rPr>
              <a:t>                     Pon </a:t>
            </a:r>
            <a:r>
              <a:rPr lang="en-US" sz="2000" dirty="0" err="1">
                <a:latin typeface="Times New Roman" panose="02020603050405020304" pitchFamily="18" charset="0"/>
                <a:cs typeface="Times New Roman" panose="02020603050405020304" pitchFamily="18" charset="0"/>
              </a:rPr>
              <a:t>surya</a:t>
            </a:r>
            <a:r>
              <a:rPr lang="en-US" sz="2000" dirty="0">
                <a:latin typeface="Times New Roman" panose="02020603050405020304" pitchFamily="18" charset="0"/>
                <a:cs typeface="Times New Roman" panose="02020603050405020304" pitchFamily="18" charset="0"/>
              </a:rPr>
              <a:t> (192411145)</a:t>
            </a:r>
          </a:p>
          <a:p>
            <a:pPr lvl="1"/>
            <a:r>
              <a:rPr lang="en-US" sz="2000" dirty="0">
                <a:latin typeface="Times New Roman" panose="02020603050405020304" pitchFamily="18" charset="0"/>
                <a:cs typeface="Times New Roman" panose="02020603050405020304" pitchFamily="18" charset="0"/>
              </a:rPr>
              <a:t>                     Tharun </a:t>
            </a:r>
            <a:r>
              <a:rPr lang="en-US" sz="2000" dirty="0" err="1">
                <a:latin typeface="Times New Roman" panose="02020603050405020304" pitchFamily="18" charset="0"/>
                <a:cs typeface="Times New Roman" panose="02020603050405020304" pitchFamily="18" charset="0"/>
              </a:rPr>
              <a:t>sai</a:t>
            </a:r>
            <a:r>
              <a:rPr lang="en-US" sz="2000" dirty="0">
                <a:latin typeface="Times New Roman" panose="02020603050405020304" pitchFamily="18" charset="0"/>
                <a:cs typeface="Times New Roman" panose="02020603050405020304" pitchFamily="18" charset="0"/>
              </a:rPr>
              <a:t> (192521486)</a:t>
            </a:r>
          </a:p>
        </p:txBody>
      </p:sp>
      <p:sp>
        <p:nvSpPr>
          <p:cNvPr id="5" name="TextBox 4">
            <a:extLst>
              <a:ext uri="{FF2B5EF4-FFF2-40B4-BE49-F238E27FC236}">
                <a16:creationId xmlns:a16="http://schemas.microsoft.com/office/drawing/2014/main" id="{2E5C4902-4A8F-112F-87B0-4C5028AFC44C}"/>
              </a:ext>
            </a:extLst>
          </p:cNvPr>
          <p:cNvSpPr txBox="1"/>
          <p:nvPr/>
        </p:nvSpPr>
        <p:spPr>
          <a:xfrm>
            <a:off x="544996" y="5204808"/>
            <a:ext cx="2550763"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Guided by:</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Dr.DS.Praveen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7740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lide1_img0.png">
            <a:extLst>
              <a:ext uri="{FF2B5EF4-FFF2-40B4-BE49-F238E27FC236}">
                <a16:creationId xmlns:a16="http://schemas.microsoft.com/office/drawing/2014/main" id="{BD0168F0-3FCD-452D-9537-ADC891438B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11525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05EDC57-6723-493C-B00B-2EBFC294DC64}"/>
              </a:ext>
            </a:extLst>
          </p:cNvPr>
          <p:cNvSpPr/>
          <p:nvPr/>
        </p:nvSpPr>
        <p:spPr>
          <a:xfrm>
            <a:off x="4562475" y="1591568"/>
            <a:ext cx="2695575" cy="584775"/>
          </a:xfrm>
          <a:prstGeom prst="rect">
            <a:avLst/>
          </a:prstGeom>
        </p:spPr>
        <p:txBody>
          <a:bodyPr wrap="square">
            <a:spAutoFit/>
          </a:bodyPr>
          <a:lstStyle/>
          <a:p>
            <a:pPr algn="ctr"/>
            <a:r>
              <a:rPr lang="en-US" sz="3200" b="1" dirty="0">
                <a:latin typeface="Times New Roman"/>
                <a:cs typeface="Times New Roman"/>
              </a:rPr>
              <a:t>ABSTRACT</a:t>
            </a:r>
            <a:endParaRPr lang="en-IN" sz="3200" dirty="0"/>
          </a:p>
        </p:txBody>
      </p:sp>
      <p:sp>
        <p:nvSpPr>
          <p:cNvPr id="4" name="Rectangle 3">
            <a:extLst>
              <a:ext uri="{FF2B5EF4-FFF2-40B4-BE49-F238E27FC236}">
                <a16:creationId xmlns:a16="http://schemas.microsoft.com/office/drawing/2014/main" id="{BEE04166-DF2F-4E1F-94EB-3EB13F3C8D9D}"/>
              </a:ext>
            </a:extLst>
          </p:cNvPr>
          <p:cNvSpPr/>
          <p:nvPr/>
        </p:nvSpPr>
        <p:spPr>
          <a:xfrm>
            <a:off x="226141" y="2412318"/>
            <a:ext cx="11582400" cy="3892861"/>
          </a:xfrm>
          <a:prstGeom prst="rect">
            <a:avLst/>
          </a:prstGeom>
        </p:spPr>
        <p:txBody>
          <a:bodyPr wrap="square">
            <a:spAutoFit/>
          </a:bodyPr>
          <a:lstStyle/>
          <a:p>
            <a:pPr marL="342900" lvl="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Develops an AI-powered platform</a:t>
            </a:r>
            <a:r>
              <a:rPr lang="en-US" sz="2000" dirty="0">
                <a:latin typeface="Times New Roman" panose="02020603050405020304" pitchFamily="18" charset="0"/>
                <a:cs typeface="Times New Roman" panose="02020603050405020304" pitchFamily="18" charset="0"/>
              </a:rPr>
              <a:t> to detect fraudulent insurance claims and assess claim risks.</a:t>
            </a:r>
          </a:p>
          <a:p>
            <a:pPr marL="342900" lvl="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Integrates customer, policy, claim, and payment data</a:t>
            </a:r>
            <a:r>
              <a:rPr lang="en-US" sz="2000" dirty="0">
                <a:latin typeface="Times New Roman" panose="02020603050405020304" pitchFamily="18" charset="0"/>
                <a:cs typeface="Times New Roman" panose="02020603050405020304" pitchFamily="18" charset="0"/>
              </a:rPr>
              <a:t> into a centralized data warehouse using the ETL process.</a:t>
            </a:r>
          </a:p>
          <a:p>
            <a:pPr marL="342900" lvl="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Applies data mining and AI techniques</a:t>
            </a:r>
            <a:r>
              <a:rPr lang="en-US" sz="2000" dirty="0">
                <a:latin typeface="Times New Roman" panose="02020603050405020304" pitchFamily="18" charset="0"/>
                <a:cs typeface="Times New Roman" panose="02020603050405020304" pitchFamily="18" charset="0"/>
              </a:rPr>
              <a:t> to identify fraud patterns and predict high-risk claims.</a:t>
            </a:r>
          </a:p>
          <a:p>
            <a:pPr marL="342900" lvl="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Provides real-time dashboards, fraud alerts, and risk analytics</a:t>
            </a:r>
            <a:r>
              <a:rPr lang="en-US" sz="2000" dirty="0">
                <a:latin typeface="Times New Roman" panose="02020603050405020304" pitchFamily="18" charset="0"/>
                <a:cs typeface="Times New Roman" panose="02020603050405020304" pitchFamily="18" charset="0"/>
              </a:rPr>
              <a:t> to support faster and more accurate decisions.</a:t>
            </a:r>
          </a:p>
          <a:p>
            <a:pPr marL="342900" lvl="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Reduces financial losses, improves claim processing efficiency, and enhances customer satisfaction.</a:t>
            </a:r>
            <a:br>
              <a:rPr lang="en-US"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604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slide1_img0.png">
            <a:extLst>
              <a:ext uri="{FF2B5EF4-FFF2-40B4-BE49-F238E27FC236}">
                <a16:creationId xmlns:a16="http://schemas.microsoft.com/office/drawing/2014/main" id="{E509DEE7-AE90-4A85-AB05-9953F7E0B9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2076"/>
            <a:ext cx="12192000" cy="11525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2F74732-E8F8-4B1C-B50B-CD9329C9BAFC}"/>
              </a:ext>
            </a:extLst>
          </p:cNvPr>
          <p:cNvSpPr/>
          <p:nvPr/>
        </p:nvSpPr>
        <p:spPr>
          <a:xfrm>
            <a:off x="4352925" y="1449586"/>
            <a:ext cx="3752849" cy="584775"/>
          </a:xfrm>
          <a:prstGeom prst="rect">
            <a:avLst/>
          </a:prstGeom>
        </p:spPr>
        <p:txBody>
          <a:bodyPr wrap="square">
            <a:spAutoFit/>
          </a:bodyPr>
          <a:lstStyle/>
          <a:p>
            <a:pPr algn="ctr"/>
            <a:r>
              <a:rPr lang="en-IN" sz="3200" b="1" dirty="0">
                <a:latin typeface="Times New Roman"/>
                <a:cs typeface="Times New Roman"/>
              </a:rPr>
              <a:t>INTRODUCTION</a:t>
            </a:r>
          </a:p>
        </p:txBody>
      </p:sp>
      <p:sp>
        <p:nvSpPr>
          <p:cNvPr id="4" name="Rectangle 1">
            <a:extLst>
              <a:ext uri="{FF2B5EF4-FFF2-40B4-BE49-F238E27FC236}">
                <a16:creationId xmlns:a16="http://schemas.microsoft.com/office/drawing/2014/main" id="{46932FE8-6D09-458D-91F6-791198D14245}"/>
              </a:ext>
            </a:extLst>
          </p:cNvPr>
          <p:cNvSpPr>
            <a:spLocks noChangeArrowheads="1"/>
          </p:cNvSpPr>
          <p:nvPr/>
        </p:nvSpPr>
        <p:spPr bwMode="auto">
          <a:xfrm rot="10800000" flipV="1">
            <a:off x="0" y="1830874"/>
            <a:ext cx="7329588" cy="4038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fontAlgn="base">
              <a:lnSpc>
                <a:spcPct val="150000"/>
              </a:lnSpc>
              <a:spcBef>
                <a:spcPct val="0"/>
              </a:spcBef>
              <a:spcAft>
                <a:spcPct val="0"/>
              </a:spcAft>
              <a:buClrTx/>
              <a:buSzTx/>
              <a:buFont typeface="Arial" panose="020B0604020202020204" pitchFamily="34" charset="0"/>
              <a:buChar char="•"/>
              <a:tabLst/>
            </a:pPr>
            <a:r>
              <a:rPr lang="en-US" sz="2000" dirty="0">
                <a:latin typeface="Times New Roman" panose="02020603050405020304" pitchFamily="18" charset="0"/>
                <a:cs typeface="Times New Roman" panose="02020603050405020304" pitchFamily="18" charset="0"/>
              </a:rPr>
              <a:t>Insurance fraud is one of the major challenges faced by insurance companies, leading to significant financial losses and delayed claim processing. Traditional fraud detection methods rely heavily on manual verification, making them slow and less effective. This project uses Artificial Intelligence (AI), Data Warehousing, and Data Mining techniques to identify fraudulent claims, analyze risk patterns, and assist insurance companies in making faster and more accurate decisions.</a:t>
            </a:r>
            <a:endParaRPr lang="en-US" altLang="en-US" sz="2800" dirty="0">
              <a:latin typeface="Times New Roman" panose="02020603050405020304" pitchFamily="18" charset="0"/>
              <a:cs typeface="Times New Roman" panose="02020603050405020304" pitchFamily="18" charset="0"/>
            </a:endParaRPr>
          </a:p>
        </p:txBody>
      </p:sp>
      <p:pic>
        <p:nvPicPr>
          <p:cNvPr id="7" name="Picture 6" descr="https://images.openai.com/static-rsc-4/4nMhAdp7hfgE-8J-eOi6CFZCIhuJ-mPJ6VEVU6bdILbJpuTSXZDrUBm1APaZMr_zBHOyMRWJXILzRwz7focFC2E3Pd0Qyrxf_sDpEJOJx0dNrjU1BO47GjH5a-AjXNnR8x-KJcpjnbn4OiBjGD1IBzMiD4WOwiOEAo2f_ErB9uirZBZOWEFofbHZYQBF_Q1W?purpose=fullsize">
            <a:extLst>
              <a:ext uri="{FF2B5EF4-FFF2-40B4-BE49-F238E27FC236}">
                <a16:creationId xmlns:a16="http://schemas.microsoft.com/office/drawing/2014/main" id="{3BBEDEEE-7A29-326A-4284-2A644351A84B}"/>
              </a:ext>
            </a:extLst>
          </p:cNvPr>
          <p:cNvPicPr>
            <a:picLocks noChangeAspect="1"/>
          </p:cNvPicPr>
          <p:nvPr/>
        </p:nvPicPr>
        <p:blipFill>
          <a:blip r:embed="rId3"/>
          <a:stretch>
            <a:fillRect/>
          </a:stretch>
        </p:blipFill>
        <p:spPr>
          <a:xfrm>
            <a:off x="7329588" y="2034360"/>
            <a:ext cx="4862412" cy="3968233"/>
          </a:xfrm>
          <a:prstGeom prst="rect">
            <a:avLst/>
          </a:prstGeom>
        </p:spPr>
      </p:pic>
    </p:spTree>
    <p:extLst>
      <p:ext uri="{BB962C8B-B14F-4D97-AF65-F5344CB8AC3E}">
        <p14:creationId xmlns:p14="http://schemas.microsoft.com/office/powerpoint/2010/main" val="860281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C0C50-F515-BBB7-AE1F-D8ED705B8116}"/>
            </a:ext>
          </a:extLst>
        </p:cNvPr>
        <p:cNvGrpSpPr/>
        <p:nvPr/>
      </p:nvGrpSpPr>
      <p:grpSpPr>
        <a:xfrm>
          <a:off x="0" y="0"/>
          <a:ext cx="0" cy="0"/>
          <a:chOff x="0" y="0"/>
          <a:chExt cx="0" cy="0"/>
        </a:xfrm>
      </p:grpSpPr>
      <p:pic>
        <p:nvPicPr>
          <p:cNvPr id="2" name="Picture 2" descr="slide1_img0.png">
            <a:extLst>
              <a:ext uri="{FF2B5EF4-FFF2-40B4-BE49-F238E27FC236}">
                <a16:creationId xmlns:a16="http://schemas.microsoft.com/office/drawing/2014/main" id="{6A3E22C3-4964-FBEF-172D-B3930BB22D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2076"/>
            <a:ext cx="12192000" cy="11525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CC8CD38-98EA-B240-C751-B64027E0B476}"/>
              </a:ext>
            </a:extLst>
          </p:cNvPr>
          <p:cNvSpPr/>
          <p:nvPr/>
        </p:nvSpPr>
        <p:spPr>
          <a:xfrm>
            <a:off x="3591693" y="1342531"/>
            <a:ext cx="5008613" cy="584775"/>
          </a:xfrm>
          <a:prstGeom prst="rect">
            <a:avLst/>
          </a:prstGeom>
        </p:spPr>
        <p:txBody>
          <a:bodyPr wrap="square">
            <a:spAutoFit/>
          </a:bodyPr>
          <a:lstStyle/>
          <a:p>
            <a:pPr algn="ctr"/>
            <a:r>
              <a:rPr lang="en-IN" sz="3200" b="1" dirty="0">
                <a:latin typeface="Times New Roman"/>
                <a:cs typeface="Times New Roman"/>
              </a:rPr>
              <a:t>PROBLEM STATEMENT</a:t>
            </a:r>
          </a:p>
        </p:txBody>
      </p:sp>
      <p:sp>
        <p:nvSpPr>
          <p:cNvPr id="4" name="Rectangle 1">
            <a:extLst>
              <a:ext uri="{FF2B5EF4-FFF2-40B4-BE49-F238E27FC236}">
                <a16:creationId xmlns:a16="http://schemas.microsoft.com/office/drawing/2014/main" id="{41434A49-B5A9-44EB-E272-DE96D62449FE}"/>
              </a:ext>
            </a:extLst>
          </p:cNvPr>
          <p:cNvSpPr>
            <a:spLocks noChangeArrowheads="1"/>
          </p:cNvSpPr>
          <p:nvPr/>
        </p:nvSpPr>
        <p:spPr bwMode="auto">
          <a:xfrm rot="10800000" flipV="1">
            <a:off x="176980" y="2219169"/>
            <a:ext cx="648929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Increasing number of fraudulent insurance claims.</a:t>
            </a: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Manual verification is slow and time-consuming.</a:t>
            </a: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Large amounts of insurance data are difficult to analyze.</a:t>
            </a: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High operational costs due to fraud investigations.</a:t>
            </a: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Delayed claim approval affects customer satisfaction.</a:t>
            </a:r>
          </a:p>
        </p:txBody>
      </p:sp>
      <p:pic>
        <p:nvPicPr>
          <p:cNvPr id="5" name="Picture 4" descr="https://images.openai.com/static-rsc-4/7vn0n2U_iwnhf9wLhgEhhi8SZrUtyRF3TOb2pob13ChgjKOutIaT92jYjU9JKIyjGNLEmufh9-lvr-buX871Js_akXe1QrjaJRpnys1fZMtcfY1ody-2iX_4bkMP4-ipO4pqI9aRZUTFZRrWV9alEC3EoE1u_B0a7HmlSDjM_zo1NQvhL34SXch3lZNCiFPg?purpose=fullsize">
            <a:extLst>
              <a:ext uri="{FF2B5EF4-FFF2-40B4-BE49-F238E27FC236}">
                <a16:creationId xmlns:a16="http://schemas.microsoft.com/office/drawing/2014/main" id="{681E4ED8-4A4F-04C4-E820-3EFD9DD682B7}"/>
              </a:ext>
            </a:extLst>
          </p:cNvPr>
          <p:cNvPicPr>
            <a:picLocks noChangeAspect="1"/>
          </p:cNvPicPr>
          <p:nvPr/>
        </p:nvPicPr>
        <p:blipFill>
          <a:blip r:embed="rId3"/>
          <a:stretch>
            <a:fillRect/>
          </a:stretch>
        </p:blipFill>
        <p:spPr>
          <a:xfrm>
            <a:off x="6489292" y="1927306"/>
            <a:ext cx="5525729" cy="4782764"/>
          </a:xfrm>
          <a:prstGeom prst="rect">
            <a:avLst/>
          </a:prstGeom>
        </p:spPr>
      </p:pic>
    </p:spTree>
    <p:extLst>
      <p:ext uri="{BB962C8B-B14F-4D97-AF65-F5344CB8AC3E}">
        <p14:creationId xmlns:p14="http://schemas.microsoft.com/office/powerpoint/2010/main" val="3401155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slide1_img0.png">
            <a:extLst>
              <a:ext uri="{FF2B5EF4-FFF2-40B4-BE49-F238E27FC236}">
                <a16:creationId xmlns:a16="http://schemas.microsoft.com/office/drawing/2014/main" id="{E6CF7FAD-D801-4A0F-A7AF-AA3CB8FB8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11525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4877ADF-1033-4BED-BEB9-5E8386461DB7}"/>
              </a:ext>
            </a:extLst>
          </p:cNvPr>
          <p:cNvSpPr/>
          <p:nvPr/>
        </p:nvSpPr>
        <p:spPr>
          <a:xfrm>
            <a:off x="4657725" y="1620143"/>
            <a:ext cx="2838450" cy="584775"/>
          </a:xfrm>
          <a:prstGeom prst="rect">
            <a:avLst/>
          </a:prstGeom>
        </p:spPr>
        <p:txBody>
          <a:bodyPr wrap="square">
            <a:spAutoFit/>
          </a:bodyPr>
          <a:lstStyle/>
          <a:p>
            <a:pPr algn="ctr"/>
            <a:r>
              <a:rPr lang="en-US" sz="3200" b="1" dirty="0">
                <a:latin typeface="Times New Roman"/>
                <a:cs typeface="Times New Roman"/>
              </a:rPr>
              <a:t>OBJECTIVES</a:t>
            </a:r>
            <a:endParaRPr lang="en-IN" sz="3200" b="1" dirty="0">
              <a:latin typeface="Times New Roman"/>
              <a:cs typeface="Times New Roman"/>
            </a:endParaRPr>
          </a:p>
        </p:txBody>
      </p:sp>
      <p:sp>
        <p:nvSpPr>
          <p:cNvPr id="4" name="Rectangle 1">
            <a:extLst>
              <a:ext uri="{FF2B5EF4-FFF2-40B4-BE49-F238E27FC236}">
                <a16:creationId xmlns:a16="http://schemas.microsoft.com/office/drawing/2014/main" id="{4320E673-EDF6-450D-82BF-E065CB4C15E5}"/>
              </a:ext>
            </a:extLst>
          </p:cNvPr>
          <p:cNvSpPr>
            <a:spLocks noChangeArrowheads="1"/>
          </p:cNvSpPr>
          <p:nvPr/>
        </p:nvSpPr>
        <p:spPr bwMode="auto">
          <a:xfrm rot="10800000" flipV="1">
            <a:off x="335251" y="2803489"/>
            <a:ext cx="6749692"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 a centralized insurance data warehouse.</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Detect fraudulent insurance claims using AI.</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Analyze claim patterns using data mining.</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Predict risk scores for insurance claims.</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Generate reports for better decision-making.</a:t>
            </a:r>
          </a:p>
        </p:txBody>
      </p:sp>
      <p:pic>
        <p:nvPicPr>
          <p:cNvPr id="5" name="Picture 4" descr="objectives_img.png">
            <a:extLst>
              <a:ext uri="{FF2B5EF4-FFF2-40B4-BE49-F238E27FC236}">
                <a16:creationId xmlns:a16="http://schemas.microsoft.com/office/drawing/2014/main" id="{28189462-64FC-4C68-A274-9D7BEE415B4F}"/>
              </a:ext>
            </a:extLst>
          </p:cNvPr>
          <p:cNvPicPr>
            <a:picLocks noChangeAspect="1"/>
          </p:cNvPicPr>
          <p:nvPr/>
        </p:nvPicPr>
        <p:blipFill>
          <a:blip r:embed="rId3"/>
          <a:stretch>
            <a:fillRect/>
          </a:stretch>
        </p:blipFill>
        <p:spPr>
          <a:xfrm>
            <a:off x="7356297" y="2672536"/>
            <a:ext cx="4109662" cy="3098781"/>
          </a:xfrm>
          <a:prstGeom prst="rect">
            <a:avLst/>
          </a:prstGeom>
        </p:spPr>
      </p:pic>
    </p:spTree>
    <p:extLst>
      <p:ext uri="{BB962C8B-B14F-4D97-AF65-F5344CB8AC3E}">
        <p14:creationId xmlns:p14="http://schemas.microsoft.com/office/powerpoint/2010/main" val="4208355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slide1_img0.png">
            <a:extLst>
              <a:ext uri="{FF2B5EF4-FFF2-40B4-BE49-F238E27FC236}">
                <a16:creationId xmlns:a16="http://schemas.microsoft.com/office/drawing/2014/main" id="{69B48135-808E-4A99-895F-29C91F79BB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1371"/>
            <a:ext cx="121920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1757945-71F5-3C76-D301-7D26CEB19D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987" y="1219200"/>
            <a:ext cx="11975690" cy="5525729"/>
          </a:xfrm>
          <a:prstGeom prst="rect">
            <a:avLst/>
          </a:prstGeom>
        </p:spPr>
      </p:pic>
    </p:spTree>
    <p:extLst>
      <p:ext uri="{BB962C8B-B14F-4D97-AF65-F5344CB8AC3E}">
        <p14:creationId xmlns:p14="http://schemas.microsoft.com/office/powerpoint/2010/main" val="2116029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lide1_img0.png">
            <a:extLst>
              <a:ext uri="{FF2B5EF4-FFF2-40B4-BE49-F238E27FC236}">
                <a16:creationId xmlns:a16="http://schemas.microsoft.com/office/drawing/2014/main" id="{72E30C47-49FA-46AD-88F4-94C05F511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1371"/>
            <a:ext cx="12192000" cy="11525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CEE78AA-4C2D-411E-942D-715F75192AA1}"/>
              </a:ext>
            </a:extLst>
          </p:cNvPr>
          <p:cNvSpPr/>
          <p:nvPr/>
        </p:nvSpPr>
        <p:spPr>
          <a:xfrm>
            <a:off x="4541178" y="1592495"/>
            <a:ext cx="2887038" cy="646331"/>
          </a:xfrm>
          <a:prstGeom prst="rect">
            <a:avLst/>
          </a:prstGeom>
        </p:spPr>
        <p:txBody>
          <a:bodyPr wrap="square">
            <a:spAutoFit/>
          </a:bodyPr>
          <a:lstStyle/>
          <a:p>
            <a:pPr algn="ctr"/>
            <a:r>
              <a:rPr lang="en-US" sz="3600" b="1" dirty="0">
                <a:latin typeface="Times New Roman"/>
                <a:cs typeface="Times New Roman"/>
              </a:rPr>
              <a:t>MODULES</a:t>
            </a:r>
            <a:endParaRPr lang="en-IN" sz="3600" b="1" dirty="0">
              <a:latin typeface="Times New Roman"/>
              <a:cs typeface="Times New Roman"/>
            </a:endParaRPr>
          </a:p>
        </p:txBody>
      </p:sp>
      <p:sp>
        <p:nvSpPr>
          <p:cNvPr id="4" name="Rectangle 3">
            <a:extLst>
              <a:ext uri="{FF2B5EF4-FFF2-40B4-BE49-F238E27FC236}">
                <a16:creationId xmlns:a16="http://schemas.microsoft.com/office/drawing/2014/main" id="{C4B5B31E-0FEB-47C2-98D4-DCAA450EDBE3}"/>
              </a:ext>
            </a:extLst>
          </p:cNvPr>
          <p:cNvSpPr/>
          <p:nvPr/>
        </p:nvSpPr>
        <p:spPr>
          <a:xfrm>
            <a:off x="648930" y="2512751"/>
            <a:ext cx="12041311" cy="4470904"/>
          </a:xfrm>
          <a:prstGeom prst="rect">
            <a:avLst/>
          </a:prstGeom>
        </p:spPr>
        <p:txBody>
          <a:bodyPr wrap="square">
            <a:spAutoFit/>
          </a:bodyPr>
          <a:lstStyle/>
          <a:p>
            <a:pPr algn="just">
              <a:lnSpc>
                <a:spcPct val="150000"/>
              </a:lnSpc>
            </a:pPr>
            <a:r>
              <a:rPr lang="en-US" sz="2800" b="1" dirty="0">
                <a:latin typeface="Times New Roman"/>
                <a:cs typeface="Times New Roman"/>
              </a:rPr>
              <a:t>Module 1 :</a:t>
            </a:r>
            <a:r>
              <a:rPr lang="en-US" sz="2800" b="1" dirty="0">
                <a:solidFill>
                  <a:srgbClr val="C00000"/>
                </a:solidFill>
                <a:latin typeface="Times New Roman"/>
                <a:cs typeface="Times New Roman"/>
              </a:rPr>
              <a:t> </a:t>
            </a:r>
            <a:r>
              <a:rPr lang="en-US" sz="2800" b="1" dirty="0">
                <a:latin typeface="Times New Roman" panose="02020603050405020304" pitchFamily="18" charset="0"/>
                <a:cs typeface="Times New Roman" panose="02020603050405020304" pitchFamily="18" charset="0"/>
              </a:rPr>
              <a:t>Data Collection &amp; Integration</a:t>
            </a:r>
            <a:endParaRPr lang="en-US" sz="3600" b="1" dirty="0">
              <a:solidFill>
                <a:srgbClr val="FFFF00"/>
              </a:solidFill>
              <a:latin typeface="Times New Roman" panose="02020603050405020304" pitchFamily="18" charset="0"/>
              <a:cs typeface="Times New Roman" panose="02020603050405020304" pitchFamily="18" charset="0"/>
            </a:endParaRPr>
          </a:p>
          <a:p>
            <a:pPr algn="just">
              <a:lnSpc>
                <a:spcPct val="150000"/>
              </a:lnSpc>
            </a:pPr>
            <a:r>
              <a:rPr lang="en-US" sz="2800" b="1" dirty="0">
                <a:latin typeface="Times New Roman"/>
                <a:cs typeface="Times New Roman"/>
              </a:rPr>
              <a:t>Module 2 :</a:t>
            </a:r>
            <a:r>
              <a:rPr lang="en-US" sz="2800" b="1" dirty="0">
                <a:solidFill>
                  <a:srgbClr val="C00000"/>
                </a:solidFill>
                <a:latin typeface="Times New Roman"/>
                <a:cs typeface="Times New Roman"/>
              </a:rPr>
              <a:t> </a:t>
            </a:r>
            <a:r>
              <a:rPr lang="en-US" sz="2800" b="1" dirty="0">
                <a:latin typeface="Times New Roman" panose="02020603050405020304" pitchFamily="18" charset="0"/>
                <a:cs typeface="Times New Roman" panose="02020603050405020304" pitchFamily="18" charset="0"/>
              </a:rPr>
              <a:t>ETL &amp; Data Warehouse Management</a:t>
            </a:r>
            <a:endParaRPr lang="en-US" sz="3600" b="1" dirty="0">
              <a:solidFill>
                <a:srgbClr val="FFFF00"/>
              </a:solidFill>
              <a:latin typeface="Times New Roman" panose="02020603050405020304" pitchFamily="18" charset="0"/>
              <a:cs typeface="Times New Roman" panose="02020603050405020304" pitchFamily="18" charset="0"/>
            </a:endParaRPr>
          </a:p>
          <a:p>
            <a:pPr algn="just">
              <a:lnSpc>
                <a:spcPct val="150000"/>
              </a:lnSpc>
            </a:pPr>
            <a:r>
              <a:rPr lang="en-US" sz="2800" b="1" dirty="0">
                <a:latin typeface="Times New Roman"/>
                <a:cs typeface="Times New Roman"/>
              </a:rPr>
              <a:t>Module 3 :</a:t>
            </a:r>
            <a:r>
              <a:rPr lang="en-US" sz="2800" b="1" dirty="0">
                <a:solidFill>
                  <a:srgbClr val="C00000"/>
                </a:solidFill>
                <a:latin typeface="Times New Roman"/>
                <a:cs typeface="Times New Roman"/>
              </a:rPr>
              <a:t> </a:t>
            </a:r>
            <a:r>
              <a:rPr lang="en-US" sz="2800" b="1" dirty="0">
                <a:latin typeface="Times New Roman" panose="02020603050405020304" pitchFamily="18" charset="0"/>
                <a:cs typeface="Times New Roman" panose="02020603050405020304" pitchFamily="18" charset="0"/>
              </a:rPr>
              <a:t>AI-Based Fraud Detection</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sz="2800" b="1" dirty="0">
                <a:latin typeface="Times New Roman" panose="02020603050405020304" pitchFamily="18" charset="0"/>
                <a:cs typeface="Times New Roman" panose="02020603050405020304" pitchFamily="18" charset="0"/>
              </a:rPr>
              <a:t>Module 4: Risk Analytics &amp; Prediction</a:t>
            </a:r>
          </a:p>
          <a:p>
            <a:pPr algn="just">
              <a:lnSpc>
                <a:spcPct val="150000"/>
              </a:lnSpc>
            </a:pPr>
            <a:r>
              <a:rPr lang="en-US" sz="2800" b="1" dirty="0">
                <a:latin typeface="Times New Roman" panose="02020603050405020304" pitchFamily="18" charset="0"/>
                <a:cs typeface="Times New Roman" panose="02020603050405020304" pitchFamily="18" charset="0"/>
              </a:rPr>
              <a:t>Module 5: Dashboard &amp; Decision Support Purpose</a:t>
            </a:r>
          </a:p>
          <a:p>
            <a:pPr algn="just">
              <a:lnSpc>
                <a:spcPct val="150000"/>
              </a:lnSpc>
            </a:pPr>
            <a:endParaRPr lang="en-US" b="1" dirty="0"/>
          </a:p>
          <a:p>
            <a:pPr>
              <a:lnSpc>
                <a:spcPct val="150000"/>
              </a:lnSpc>
            </a:pPr>
            <a:endParaRPr lang="en-US" sz="3600" b="1" dirty="0">
              <a:solidFill>
                <a:srgbClr val="FFFF00"/>
              </a:solidFill>
              <a:latin typeface="Times New Roman"/>
              <a:cs typeface="Times New Roman"/>
            </a:endParaRPr>
          </a:p>
        </p:txBody>
      </p:sp>
    </p:spTree>
    <p:extLst>
      <p:ext uri="{BB962C8B-B14F-4D97-AF65-F5344CB8AC3E}">
        <p14:creationId xmlns:p14="http://schemas.microsoft.com/office/powerpoint/2010/main" val="3869194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slide1_img0.png">
            <a:extLst>
              <a:ext uri="{FF2B5EF4-FFF2-40B4-BE49-F238E27FC236}">
                <a16:creationId xmlns:a16="http://schemas.microsoft.com/office/drawing/2014/main" id="{C096AC04-6415-4D0E-8439-9E979A03CA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11525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2C41DC8-B6E9-4F13-9831-9ECFDF15D130}"/>
              </a:ext>
            </a:extLst>
          </p:cNvPr>
          <p:cNvSpPr/>
          <p:nvPr/>
        </p:nvSpPr>
        <p:spPr>
          <a:xfrm>
            <a:off x="1995948" y="1152525"/>
            <a:ext cx="8519650" cy="1077218"/>
          </a:xfrm>
          <a:prstGeom prst="rect">
            <a:avLst/>
          </a:prstGeom>
        </p:spPr>
        <p:txBody>
          <a:bodyPr wrap="square">
            <a:spAutoFit/>
          </a:bodyPr>
          <a:lstStyle/>
          <a:p>
            <a:pPr algn="ctr"/>
            <a:r>
              <a:rPr lang="en-US" sz="3200" b="1" dirty="0">
                <a:latin typeface="Times New Roman"/>
                <a:cs typeface="Times New Roman"/>
              </a:rPr>
              <a:t>Module 1</a:t>
            </a:r>
          </a:p>
          <a:p>
            <a:pPr algn="ctr"/>
            <a:r>
              <a:rPr lang="en-US" sz="3200" b="1" dirty="0">
                <a:latin typeface="Times New Roman"/>
                <a:cs typeface="Times New Roman"/>
              </a:rPr>
              <a:t> </a:t>
            </a:r>
            <a:r>
              <a:rPr lang="en-US" sz="3200" b="1" dirty="0">
                <a:latin typeface="Times New Roman" panose="02020603050405020304" pitchFamily="18" charset="0"/>
                <a:cs typeface="Times New Roman" panose="02020603050405020304" pitchFamily="18" charset="0"/>
              </a:rPr>
              <a:t>Data Collection &amp; Integration</a:t>
            </a:r>
            <a:endParaRPr lang="en-IN" sz="3200" b="1" dirty="0">
              <a:latin typeface="Times New Roman"/>
              <a:cs typeface="Times New Roman"/>
            </a:endParaRPr>
          </a:p>
        </p:txBody>
      </p:sp>
      <p:sp>
        <p:nvSpPr>
          <p:cNvPr id="4" name="Rectangle 1">
            <a:extLst>
              <a:ext uri="{FF2B5EF4-FFF2-40B4-BE49-F238E27FC236}">
                <a16:creationId xmlns:a16="http://schemas.microsoft.com/office/drawing/2014/main" id="{5A21763E-D6CA-4527-B134-B9A7C9E6A7B9}"/>
              </a:ext>
            </a:extLst>
          </p:cNvPr>
          <p:cNvSpPr>
            <a:spLocks noChangeArrowheads="1"/>
          </p:cNvSpPr>
          <p:nvPr/>
        </p:nvSpPr>
        <p:spPr bwMode="auto">
          <a:xfrm rot="10800000" flipV="1">
            <a:off x="185738" y="2629793"/>
            <a:ext cx="11820523" cy="3892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Collects insurance data from </a:t>
            </a:r>
            <a:r>
              <a:rPr lang="en-US" sz="2000" b="1" dirty="0">
                <a:latin typeface="Times New Roman" panose="02020603050405020304" pitchFamily="18" charset="0"/>
                <a:cs typeface="Times New Roman" panose="02020603050405020304" pitchFamily="18" charset="0"/>
              </a:rPr>
              <a:t>customers, policies, claims, payments, and hospital/repair records</a:t>
            </a:r>
            <a:r>
              <a:rPr lang="en-US" sz="2000" dirty="0">
                <a:latin typeface="Times New Roman" panose="02020603050405020304" pitchFamily="18" charset="0"/>
                <a:cs typeface="Times New Roman" panose="02020603050405020304" pitchFamily="18" charset="0"/>
              </a:rPr>
              <a:t>.</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Integrates data from multiple sources into a </a:t>
            </a:r>
            <a:r>
              <a:rPr lang="en-US" sz="2000" b="1" dirty="0">
                <a:latin typeface="Times New Roman" panose="02020603050405020304" pitchFamily="18" charset="0"/>
                <a:cs typeface="Times New Roman" panose="02020603050405020304" pitchFamily="18" charset="0"/>
              </a:rPr>
              <a:t>single unified dataset</a:t>
            </a:r>
            <a:r>
              <a:rPr lang="en-US" sz="2000" dirty="0">
                <a:latin typeface="Times New Roman" panose="02020603050405020304" pitchFamily="18" charset="0"/>
                <a:cs typeface="Times New Roman" panose="02020603050405020304" pitchFamily="18" charset="0"/>
              </a:rPr>
              <a:t>.</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Validates data to identify </a:t>
            </a:r>
            <a:r>
              <a:rPr lang="en-US" sz="2000" b="1" dirty="0">
                <a:latin typeface="Times New Roman" panose="02020603050405020304" pitchFamily="18" charset="0"/>
                <a:cs typeface="Times New Roman" panose="02020603050405020304" pitchFamily="18" charset="0"/>
              </a:rPr>
              <a:t>missing, duplicate, or inconsistent records</a:t>
            </a:r>
            <a:r>
              <a:rPr lang="en-US" sz="2000" dirty="0">
                <a:latin typeface="Times New Roman" panose="02020603050405020304" pitchFamily="18" charset="0"/>
                <a:cs typeface="Times New Roman" panose="02020603050405020304" pitchFamily="18" charset="0"/>
              </a:rPr>
              <a:t>.</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Cleans and standardizes data to ensure </a:t>
            </a:r>
            <a:r>
              <a:rPr lang="en-US" sz="2000" b="1" dirty="0">
                <a:latin typeface="Times New Roman" panose="02020603050405020304" pitchFamily="18" charset="0"/>
                <a:cs typeface="Times New Roman" panose="02020603050405020304" pitchFamily="18" charset="0"/>
              </a:rPr>
              <a:t>accuracy and consistency</a:t>
            </a:r>
            <a:r>
              <a:rPr lang="en-US" sz="2000" dirty="0">
                <a:latin typeface="Times New Roman" panose="02020603050405020304" pitchFamily="18" charset="0"/>
                <a:cs typeface="Times New Roman" panose="02020603050405020304" pitchFamily="18" charset="0"/>
              </a:rPr>
              <a:t>.</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Prepares high-quality data for the </a:t>
            </a:r>
            <a:r>
              <a:rPr lang="en-US" sz="2000" b="1" dirty="0">
                <a:latin typeface="Times New Roman" panose="02020603050405020304" pitchFamily="18" charset="0"/>
                <a:cs typeface="Times New Roman" panose="02020603050405020304" pitchFamily="18" charset="0"/>
              </a:rPr>
              <a:t>ETL (Extract, Transform, Load) process</a:t>
            </a:r>
            <a:r>
              <a:rPr lang="en-US" sz="2000" dirty="0">
                <a:latin typeface="Times New Roman" panose="02020603050405020304" pitchFamily="18" charset="0"/>
                <a:cs typeface="Times New Roman" panose="02020603050405020304" pitchFamily="18" charset="0"/>
              </a:rPr>
              <a:t>.</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Produces a </a:t>
            </a:r>
            <a:r>
              <a:rPr lang="en-US" sz="2000" b="1" dirty="0">
                <a:latin typeface="Times New Roman" panose="02020603050405020304" pitchFamily="18" charset="0"/>
                <a:cs typeface="Times New Roman" panose="02020603050405020304" pitchFamily="18" charset="0"/>
              </a:rPr>
              <a:t>validated and integrated dataset</a:t>
            </a:r>
            <a:r>
              <a:rPr lang="en-US" sz="2000" dirty="0">
                <a:latin typeface="Times New Roman" panose="02020603050405020304" pitchFamily="18" charset="0"/>
                <a:cs typeface="Times New Roman" panose="02020603050405020304" pitchFamily="18" charset="0"/>
              </a:rPr>
              <a:t> ready for storage in the centralized data warehouse and further AI-based fraud analysis.</a:t>
            </a:r>
            <a:br>
              <a:rPr lang="en-US" sz="2000" dirty="0">
                <a:latin typeface="Times New Roman" panose="02020603050405020304" pitchFamily="18" charset="0"/>
                <a:cs typeface="Times New Roman" panose="02020603050405020304" pitchFamily="18" charset="0"/>
              </a:rPr>
            </a:br>
            <a:endParaRPr lang="en-US"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5082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slide1_img0.png">
            <a:extLst>
              <a:ext uri="{FF2B5EF4-FFF2-40B4-BE49-F238E27FC236}">
                <a16:creationId xmlns:a16="http://schemas.microsoft.com/office/drawing/2014/main" id="{CC0C0080-B3CC-425D-9C79-832975F86D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11525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02C4438-4F0A-4D5C-84B5-A1A52A347B37}"/>
              </a:ext>
            </a:extLst>
          </p:cNvPr>
          <p:cNvSpPr/>
          <p:nvPr/>
        </p:nvSpPr>
        <p:spPr>
          <a:xfrm>
            <a:off x="1671484" y="1377438"/>
            <a:ext cx="8564820" cy="1067692"/>
          </a:xfrm>
          <a:prstGeom prst="rect">
            <a:avLst/>
          </a:prstGeom>
        </p:spPr>
        <p:txBody>
          <a:bodyPr wrap="square">
            <a:spAutoFit/>
          </a:bodyPr>
          <a:lstStyle/>
          <a:p>
            <a:r>
              <a:rPr lang="en-US" sz="3200" b="1" dirty="0">
                <a:latin typeface="Times New Roman"/>
                <a:cs typeface="Times New Roman"/>
              </a:rPr>
              <a:t>                                   Module 2</a:t>
            </a:r>
          </a:p>
          <a:p>
            <a:r>
              <a:rPr lang="en-US" sz="3200" b="1" dirty="0">
                <a:latin typeface="Times New Roman"/>
                <a:cs typeface="Times New Roman"/>
              </a:rPr>
              <a:t>           </a:t>
            </a:r>
            <a:r>
              <a:rPr lang="en-US" sz="3200" b="1" dirty="0">
                <a:latin typeface="Times New Roman" panose="02020603050405020304" pitchFamily="18" charset="0"/>
                <a:cs typeface="Times New Roman" panose="02020603050405020304" pitchFamily="18" charset="0"/>
              </a:rPr>
              <a:t>ETL &amp; Data Warehouse Management</a:t>
            </a:r>
            <a:endParaRPr lang="en-IN" sz="3200" b="1" dirty="0">
              <a:latin typeface="Times New Roman"/>
              <a:cs typeface="Times New Roman"/>
            </a:endParaRPr>
          </a:p>
        </p:txBody>
      </p:sp>
      <p:sp>
        <p:nvSpPr>
          <p:cNvPr id="4" name="Rectangle 1">
            <a:extLst>
              <a:ext uri="{FF2B5EF4-FFF2-40B4-BE49-F238E27FC236}">
                <a16:creationId xmlns:a16="http://schemas.microsoft.com/office/drawing/2014/main" id="{BA316DEF-66E2-49FE-8E21-091D68A16F0C}"/>
              </a:ext>
            </a:extLst>
          </p:cNvPr>
          <p:cNvSpPr>
            <a:spLocks noChangeArrowheads="1"/>
          </p:cNvSpPr>
          <p:nvPr/>
        </p:nvSpPr>
        <p:spPr bwMode="auto">
          <a:xfrm rot="10800000" flipV="1">
            <a:off x="358723" y="2673575"/>
            <a:ext cx="11474554"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Extracts</a:t>
            </a:r>
            <a:r>
              <a:rPr lang="en-US" sz="2000" dirty="0">
                <a:latin typeface="Times New Roman" panose="02020603050405020304" pitchFamily="18" charset="0"/>
                <a:cs typeface="Times New Roman" panose="02020603050405020304" pitchFamily="18" charset="0"/>
              </a:rPr>
              <a:t> insurance data from multiple sources, including customer, policy, claim, and payment databases.</a:t>
            </a:r>
          </a:p>
          <a:p>
            <a:pPr marL="342900" lvl="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Transforms</a:t>
            </a:r>
            <a:r>
              <a:rPr lang="en-US" sz="2000" dirty="0">
                <a:latin typeface="Times New Roman" panose="02020603050405020304" pitchFamily="18" charset="0"/>
                <a:cs typeface="Times New Roman" panose="02020603050405020304" pitchFamily="18" charset="0"/>
              </a:rPr>
              <a:t> the extracted data by cleaning, formatting, and standardizing it for consistency.</a:t>
            </a:r>
          </a:p>
          <a:p>
            <a:pPr marL="342900" lvl="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Loads</a:t>
            </a:r>
            <a:r>
              <a:rPr lang="en-US" sz="2000" dirty="0">
                <a:latin typeface="Times New Roman" panose="02020603050405020304" pitchFamily="18" charset="0"/>
                <a:cs typeface="Times New Roman" panose="02020603050405020304" pitchFamily="18" charset="0"/>
              </a:rPr>
              <a:t> the processed data into a centralized </a:t>
            </a:r>
            <a:r>
              <a:rPr lang="en-US" sz="2000" b="1" dirty="0">
                <a:latin typeface="Times New Roman" panose="02020603050405020304" pitchFamily="18" charset="0"/>
                <a:cs typeface="Times New Roman" panose="02020603050405020304" pitchFamily="18" charset="0"/>
              </a:rPr>
              <a:t>Data Warehouse</a:t>
            </a:r>
            <a:r>
              <a:rPr lang="en-US" sz="2000" dirty="0">
                <a:latin typeface="Times New Roman" panose="02020603050405020304" pitchFamily="18" charset="0"/>
                <a:cs typeface="Times New Roman" panose="02020603050405020304" pitchFamily="18" charset="0"/>
              </a:rPr>
              <a:t> for secure storage.</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Organizes historical and current insurance data for efficient retrieval and analysis.</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Supports </a:t>
            </a:r>
            <a:r>
              <a:rPr lang="en-US" sz="2000" b="1" dirty="0">
                <a:latin typeface="Times New Roman" panose="02020603050405020304" pitchFamily="18" charset="0"/>
                <a:cs typeface="Times New Roman" panose="02020603050405020304" pitchFamily="18" charset="0"/>
              </a:rPr>
              <a:t>OLAP and data mining</a:t>
            </a:r>
            <a:r>
              <a:rPr lang="en-US" sz="2000" dirty="0">
                <a:latin typeface="Times New Roman" panose="02020603050405020304" pitchFamily="18" charset="0"/>
                <a:cs typeface="Times New Roman" panose="02020603050405020304" pitchFamily="18" charset="0"/>
              </a:rPr>
              <a:t> techniques for fraud detection and risk analytics.</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a reliable, integrated data repository for AI models, dashboards, and business intelligence reports.</a:t>
            </a:r>
          </a:p>
        </p:txBody>
      </p:sp>
    </p:spTree>
    <p:extLst>
      <p:ext uri="{BB962C8B-B14F-4D97-AF65-F5344CB8AC3E}">
        <p14:creationId xmlns:p14="http://schemas.microsoft.com/office/powerpoint/2010/main" val="2382613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slide1_img0.png">
            <a:extLst>
              <a:ext uri="{FF2B5EF4-FFF2-40B4-BE49-F238E27FC236}">
                <a16:creationId xmlns:a16="http://schemas.microsoft.com/office/drawing/2014/main" id="{350A453E-B676-49B5-83A0-26399896F0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11525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6C67159-9B56-4E2A-8E8B-D733B3DAC0F4}"/>
              </a:ext>
            </a:extLst>
          </p:cNvPr>
          <p:cNvSpPr/>
          <p:nvPr/>
        </p:nvSpPr>
        <p:spPr>
          <a:xfrm>
            <a:off x="368710" y="1149162"/>
            <a:ext cx="11163300" cy="1077218"/>
          </a:xfrm>
          <a:prstGeom prst="rect">
            <a:avLst/>
          </a:prstGeom>
        </p:spPr>
        <p:txBody>
          <a:bodyPr wrap="square">
            <a:spAutoFit/>
          </a:bodyPr>
          <a:lstStyle/>
          <a:p>
            <a:pPr algn="ctr"/>
            <a:r>
              <a:rPr lang="en-US" sz="3200" b="1" dirty="0">
                <a:latin typeface="Times New Roman"/>
                <a:cs typeface="Times New Roman"/>
              </a:rPr>
              <a:t>Module 3</a:t>
            </a:r>
          </a:p>
          <a:p>
            <a:pPr algn="ctr"/>
            <a:r>
              <a:rPr lang="en-US" sz="3200" b="1" dirty="0">
                <a:latin typeface="Times New Roman"/>
                <a:cs typeface="Times New Roman"/>
              </a:rPr>
              <a:t> </a:t>
            </a:r>
            <a:r>
              <a:rPr lang="en-US" sz="3200" b="1" dirty="0">
                <a:latin typeface="Times New Roman" panose="02020603050405020304" pitchFamily="18" charset="0"/>
                <a:cs typeface="Times New Roman" panose="02020603050405020304" pitchFamily="18" charset="0"/>
              </a:rPr>
              <a:t>AI-Based Fraud Detection</a:t>
            </a:r>
            <a:endParaRPr lang="en-US" sz="3200" b="1" dirty="0">
              <a:latin typeface="Times New Roman"/>
              <a:cs typeface="Times New Roman"/>
            </a:endParaRPr>
          </a:p>
        </p:txBody>
      </p:sp>
      <p:sp>
        <p:nvSpPr>
          <p:cNvPr id="5" name="Rectangle 4">
            <a:extLst>
              <a:ext uri="{FF2B5EF4-FFF2-40B4-BE49-F238E27FC236}">
                <a16:creationId xmlns:a16="http://schemas.microsoft.com/office/drawing/2014/main" id="{0C12D839-32A4-46A9-A75E-96C8D6EE18BC}"/>
              </a:ext>
            </a:extLst>
          </p:cNvPr>
          <p:cNvSpPr/>
          <p:nvPr/>
        </p:nvSpPr>
        <p:spPr>
          <a:xfrm>
            <a:off x="438150" y="2440186"/>
            <a:ext cx="11163299" cy="3268652"/>
          </a:xfrm>
          <a:prstGeom prst="rect">
            <a:avLst/>
          </a:prstGeom>
        </p:spPr>
        <p:txBody>
          <a:bodyPr wrap="square">
            <a:spAutoFit/>
          </a:bodyPr>
          <a:lstStyle/>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Uses </a:t>
            </a:r>
            <a:r>
              <a:rPr lang="en-US" sz="2000" b="1" dirty="0">
                <a:latin typeface="Times New Roman" panose="02020603050405020304" pitchFamily="18" charset="0"/>
                <a:cs typeface="Times New Roman" panose="02020603050405020304" pitchFamily="18" charset="0"/>
              </a:rPr>
              <a:t>Artificial Intelligence (AI)</a:t>
            </a:r>
            <a:r>
              <a:rPr lang="en-US" sz="2000" dirty="0">
                <a:latin typeface="Times New Roman" panose="02020603050405020304" pitchFamily="18" charset="0"/>
                <a:cs typeface="Times New Roman" panose="02020603050405020304" pitchFamily="18" charset="0"/>
              </a:rPr>
              <a:t> to analyze insurance claim data and identify fraudulent activities.</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Applies </a:t>
            </a:r>
            <a:r>
              <a:rPr lang="en-US" sz="2000" b="1" dirty="0">
                <a:latin typeface="Times New Roman" panose="02020603050405020304" pitchFamily="18" charset="0"/>
                <a:cs typeface="Times New Roman" panose="02020603050405020304" pitchFamily="18" charset="0"/>
              </a:rPr>
              <a:t>machine learning algorithms</a:t>
            </a:r>
            <a:r>
              <a:rPr lang="en-US" sz="2000" dirty="0">
                <a:latin typeface="Times New Roman" panose="02020603050405020304" pitchFamily="18" charset="0"/>
                <a:cs typeface="Times New Roman" panose="02020603050405020304" pitchFamily="18" charset="0"/>
              </a:rPr>
              <a:t> to detect suspicious claim patterns and anomalies.</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Compares new claims with historical records to identify duplicate or abnormal claims.</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Assigns a </a:t>
            </a:r>
            <a:r>
              <a:rPr lang="en-US" sz="2000" b="1" dirty="0">
                <a:latin typeface="Times New Roman" panose="02020603050405020304" pitchFamily="18" charset="0"/>
                <a:cs typeface="Times New Roman" panose="02020603050405020304" pitchFamily="18" charset="0"/>
              </a:rPr>
              <a:t>fraud probability score</a:t>
            </a:r>
            <a:r>
              <a:rPr lang="en-US" sz="2000" dirty="0">
                <a:latin typeface="Times New Roman" panose="02020603050405020304" pitchFamily="18" charset="0"/>
                <a:cs typeface="Times New Roman" panose="02020603050405020304" pitchFamily="18" charset="0"/>
              </a:rPr>
              <a:t> to each claim based on risk factors.</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Classifies claims as </a:t>
            </a:r>
            <a:r>
              <a:rPr lang="en-US" sz="2000" b="1" dirty="0">
                <a:latin typeface="Times New Roman" panose="02020603050405020304" pitchFamily="18" charset="0"/>
                <a:cs typeface="Times New Roman" panose="02020603050405020304" pitchFamily="18" charset="0"/>
              </a:rPr>
              <a:t>Genuine</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Fraudulent</a:t>
            </a:r>
            <a:r>
              <a:rPr lang="en-US" sz="2000" dirty="0">
                <a:latin typeface="Times New Roman" panose="02020603050405020304" pitchFamily="18" charset="0"/>
                <a:cs typeface="Times New Roman" panose="02020603050405020304" pitchFamily="18" charset="0"/>
              </a:rPr>
              <a:t> for faster decision-making.</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Improves fraud detection accuracy, reduces false claims, and minimizes financial losses for insurance companies.</a:t>
            </a:r>
          </a:p>
        </p:txBody>
      </p:sp>
    </p:spTree>
    <p:extLst>
      <p:ext uri="{BB962C8B-B14F-4D97-AF65-F5344CB8AC3E}">
        <p14:creationId xmlns:p14="http://schemas.microsoft.com/office/powerpoint/2010/main" val="1664740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64D74-580A-B66A-995A-67465AC64849}"/>
            </a:ext>
          </a:extLst>
        </p:cNvPr>
        <p:cNvGrpSpPr/>
        <p:nvPr/>
      </p:nvGrpSpPr>
      <p:grpSpPr>
        <a:xfrm>
          <a:off x="0" y="0"/>
          <a:ext cx="0" cy="0"/>
          <a:chOff x="0" y="0"/>
          <a:chExt cx="0" cy="0"/>
        </a:xfrm>
      </p:grpSpPr>
      <p:pic>
        <p:nvPicPr>
          <p:cNvPr id="2" name="Picture 2" descr="slide1_img0.png">
            <a:extLst>
              <a:ext uri="{FF2B5EF4-FFF2-40B4-BE49-F238E27FC236}">
                <a16:creationId xmlns:a16="http://schemas.microsoft.com/office/drawing/2014/main" id="{5F8DEB41-FA24-62F8-93AC-E58D53FB3B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11525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092D9E1-0096-AD43-2E0D-842A41DA83C7}"/>
              </a:ext>
            </a:extLst>
          </p:cNvPr>
          <p:cNvSpPr/>
          <p:nvPr/>
        </p:nvSpPr>
        <p:spPr>
          <a:xfrm>
            <a:off x="514350" y="1254813"/>
            <a:ext cx="11163300" cy="1077218"/>
          </a:xfrm>
          <a:prstGeom prst="rect">
            <a:avLst/>
          </a:prstGeom>
        </p:spPr>
        <p:txBody>
          <a:bodyPr wrap="square">
            <a:spAutoFit/>
          </a:bodyPr>
          <a:lstStyle/>
          <a:p>
            <a:pPr algn="ctr"/>
            <a:r>
              <a:rPr lang="en-US" sz="3200" b="1" dirty="0">
                <a:latin typeface="Times New Roman"/>
                <a:cs typeface="Times New Roman"/>
              </a:rPr>
              <a:t>Module 4</a:t>
            </a:r>
          </a:p>
          <a:p>
            <a:pPr algn="ctr"/>
            <a:r>
              <a:rPr lang="en-US" sz="3200" b="1" dirty="0">
                <a:latin typeface="Times New Roman"/>
                <a:cs typeface="Times New Roman"/>
              </a:rPr>
              <a:t> </a:t>
            </a:r>
            <a:r>
              <a:rPr lang="en-US" sz="3200" b="1" dirty="0">
                <a:latin typeface="Times New Roman" panose="02020603050405020304" pitchFamily="18" charset="0"/>
                <a:cs typeface="Times New Roman" panose="02020603050405020304" pitchFamily="18" charset="0"/>
              </a:rPr>
              <a:t>Risk Analytics &amp; Prediction</a:t>
            </a:r>
            <a:endParaRPr lang="en-US" sz="3200" b="1" dirty="0">
              <a:latin typeface="Times New Roman"/>
              <a:cs typeface="Times New Roman"/>
            </a:endParaRPr>
          </a:p>
        </p:txBody>
      </p:sp>
      <p:sp>
        <p:nvSpPr>
          <p:cNvPr id="5" name="Rectangle 4">
            <a:extLst>
              <a:ext uri="{FF2B5EF4-FFF2-40B4-BE49-F238E27FC236}">
                <a16:creationId xmlns:a16="http://schemas.microsoft.com/office/drawing/2014/main" id="{0C78F9FD-EA0C-F2F6-5EBE-51F45F6C1593}"/>
              </a:ext>
            </a:extLst>
          </p:cNvPr>
          <p:cNvSpPr/>
          <p:nvPr/>
        </p:nvSpPr>
        <p:spPr>
          <a:xfrm>
            <a:off x="514350" y="2650629"/>
            <a:ext cx="11163299" cy="3268652"/>
          </a:xfrm>
          <a:prstGeom prst="rect">
            <a:avLst/>
          </a:prstGeom>
        </p:spPr>
        <p:txBody>
          <a:bodyPr wrap="square">
            <a:spAutoFit/>
          </a:bodyPr>
          <a:lstStyle/>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Analyzes historical insurance claims to identify </a:t>
            </a:r>
            <a:r>
              <a:rPr lang="en-US" sz="2000" b="1" dirty="0">
                <a:latin typeface="Times New Roman" panose="02020603050405020304" pitchFamily="18" charset="0"/>
                <a:cs typeface="Times New Roman" panose="02020603050405020304" pitchFamily="18" charset="0"/>
              </a:rPr>
              <a:t>high-risk patterns and trends</a:t>
            </a:r>
            <a:r>
              <a:rPr lang="en-US" sz="2000" dirty="0">
                <a:latin typeface="Times New Roman" panose="02020603050405020304" pitchFamily="18" charset="0"/>
                <a:cs typeface="Times New Roman" panose="02020603050405020304" pitchFamily="18" charset="0"/>
              </a:rPr>
              <a:t>.</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Calculates a </a:t>
            </a:r>
            <a:r>
              <a:rPr lang="en-US" sz="2000" b="1" dirty="0">
                <a:latin typeface="Times New Roman" panose="02020603050405020304" pitchFamily="18" charset="0"/>
                <a:cs typeface="Times New Roman" panose="02020603050405020304" pitchFamily="18" charset="0"/>
              </a:rPr>
              <a:t>risk score</a:t>
            </a:r>
            <a:r>
              <a:rPr lang="en-US" sz="2000" dirty="0">
                <a:latin typeface="Times New Roman" panose="02020603050405020304" pitchFamily="18" charset="0"/>
                <a:cs typeface="Times New Roman" panose="02020603050405020304" pitchFamily="18" charset="0"/>
              </a:rPr>
              <a:t> for each claim based on customer, policy, and claim details.</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Uses </a:t>
            </a:r>
            <a:r>
              <a:rPr lang="en-US" sz="2000" b="1" dirty="0">
                <a:latin typeface="Times New Roman" panose="02020603050405020304" pitchFamily="18" charset="0"/>
                <a:cs typeface="Times New Roman" panose="02020603050405020304" pitchFamily="18" charset="0"/>
              </a:rPr>
              <a:t>predictive analytics</a:t>
            </a:r>
            <a:r>
              <a:rPr lang="en-US" sz="2000" dirty="0">
                <a:latin typeface="Times New Roman" panose="02020603050405020304" pitchFamily="18" charset="0"/>
                <a:cs typeface="Times New Roman" panose="02020603050405020304" pitchFamily="18" charset="0"/>
              </a:rPr>
              <a:t> to estimate the likelihood of fraudulent or risky claims.</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Categorizes claims into </a:t>
            </a:r>
            <a:r>
              <a:rPr lang="en-US" sz="2000" b="1" dirty="0">
                <a:latin typeface="Times New Roman" panose="02020603050405020304" pitchFamily="18" charset="0"/>
                <a:cs typeface="Times New Roman" panose="02020603050405020304" pitchFamily="18" charset="0"/>
              </a:rPr>
              <a:t>Low, Medium, and High Risk</a:t>
            </a:r>
            <a:r>
              <a:rPr lang="en-US" sz="2000" dirty="0">
                <a:latin typeface="Times New Roman" panose="02020603050405020304" pitchFamily="18" charset="0"/>
                <a:cs typeface="Times New Roman" panose="02020603050405020304" pitchFamily="18" charset="0"/>
              </a:rPr>
              <a:t> for efficient processing.</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Helps investigators prioritize </a:t>
            </a:r>
            <a:r>
              <a:rPr lang="en-US" sz="2000" b="1" dirty="0">
                <a:latin typeface="Times New Roman" panose="02020603050405020304" pitchFamily="18" charset="0"/>
                <a:cs typeface="Times New Roman" panose="02020603050405020304" pitchFamily="18" charset="0"/>
              </a:rPr>
              <a:t>high-risk claims</a:t>
            </a:r>
            <a:r>
              <a:rPr lang="en-US" sz="2000" dirty="0">
                <a:latin typeface="Times New Roman" panose="02020603050405020304" pitchFamily="18" charset="0"/>
                <a:cs typeface="Times New Roman" panose="02020603050405020304" pitchFamily="18" charset="0"/>
              </a:rPr>
              <a:t> for detailed verification.</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Supports faster, data-driven decision-making while reducing financial losses and improving claim management.</a:t>
            </a:r>
          </a:p>
        </p:txBody>
      </p:sp>
    </p:spTree>
    <p:extLst>
      <p:ext uri="{BB962C8B-B14F-4D97-AF65-F5344CB8AC3E}">
        <p14:creationId xmlns:p14="http://schemas.microsoft.com/office/powerpoint/2010/main" val="1829538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D8C9E-F5A3-9C0B-9D6F-EDBF5CAF8F7F}"/>
            </a:ext>
          </a:extLst>
        </p:cNvPr>
        <p:cNvGrpSpPr/>
        <p:nvPr/>
      </p:nvGrpSpPr>
      <p:grpSpPr>
        <a:xfrm>
          <a:off x="0" y="0"/>
          <a:ext cx="0" cy="0"/>
          <a:chOff x="0" y="0"/>
          <a:chExt cx="0" cy="0"/>
        </a:xfrm>
      </p:grpSpPr>
      <p:pic>
        <p:nvPicPr>
          <p:cNvPr id="2" name="Picture 2" descr="slide1_img0.png">
            <a:extLst>
              <a:ext uri="{FF2B5EF4-FFF2-40B4-BE49-F238E27FC236}">
                <a16:creationId xmlns:a16="http://schemas.microsoft.com/office/drawing/2014/main" id="{75F55B38-9EF9-58A6-61DB-34DB4F448A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11525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19C2D7E-1CDC-51EE-C1F7-78B92996F7C8}"/>
              </a:ext>
            </a:extLst>
          </p:cNvPr>
          <p:cNvSpPr/>
          <p:nvPr/>
        </p:nvSpPr>
        <p:spPr>
          <a:xfrm>
            <a:off x="762000" y="1362968"/>
            <a:ext cx="11163300" cy="1077218"/>
          </a:xfrm>
          <a:prstGeom prst="rect">
            <a:avLst/>
          </a:prstGeom>
        </p:spPr>
        <p:txBody>
          <a:bodyPr wrap="square">
            <a:spAutoFit/>
          </a:bodyPr>
          <a:lstStyle/>
          <a:p>
            <a:pPr algn="ctr"/>
            <a:r>
              <a:rPr lang="en-US" sz="3200" b="1" dirty="0">
                <a:latin typeface="Times New Roman"/>
                <a:cs typeface="Times New Roman"/>
              </a:rPr>
              <a:t>Module 5</a:t>
            </a:r>
          </a:p>
          <a:p>
            <a:pPr algn="ctr"/>
            <a:r>
              <a:rPr lang="en-US" sz="3200" b="1" dirty="0">
                <a:latin typeface="Times New Roman"/>
                <a:cs typeface="Times New Roman"/>
              </a:rPr>
              <a:t> </a:t>
            </a:r>
            <a:r>
              <a:rPr lang="en-US" sz="3200" b="1" dirty="0">
                <a:latin typeface="Times New Roman" panose="02020603050405020304" pitchFamily="18" charset="0"/>
                <a:cs typeface="Times New Roman" panose="02020603050405020304" pitchFamily="18" charset="0"/>
              </a:rPr>
              <a:t>Dashboard &amp; Decision Support Purpose</a:t>
            </a:r>
            <a:endParaRPr lang="en-US" sz="3200" b="1" dirty="0">
              <a:latin typeface="Times New Roman"/>
              <a:cs typeface="Times New Roman"/>
            </a:endParaRPr>
          </a:p>
        </p:txBody>
      </p:sp>
      <p:sp>
        <p:nvSpPr>
          <p:cNvPr id="5" name="Rectangle 4">
            <a:extLst>
              <a:ext uri="{FF2B5EF4-FFF2-40B4-BE49-F238E27FC236}">
                <a16:creationId xmlns:a16="http://schemas.microsoft.com/office/drawing/2014/main" id="{A6B9A831-26E2-57EB-E4D3-1F2CF38AB387}"/>
              </a:ext>
            </a:extLst>
          </p:cNvPr>
          <p:cNvSpPr/>
          <p:nvPr/>
        </p:nvSpPr>
        <p:spPr>
          <a:xfrm>
            <a:off x="514350" y="2742837"/>
            <a:ext cx="11163299" cy="3349956"/>
          </a:xfrm>
          <a:prstGeom prst="rect">
            <a:avLst/>
          </a:prstGeom>
        </p:spPr>
        <p:txBody>
          <a:bodyPr wrap="square">
            <a:spAutoFit/>
          </a:bodyPr>
          <a:lstStyle/>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an </a:t>
            </a:r>
            <a:r>
              <a:rPr lang="en-US" sz="2000" b="1" dirty="0">
                <a:latin typeface="Times New Roman" panose="02020603050405020304" pitchFamily="18" charset="0"/>
                <a:cs typeface="Times New Roman" panose="02020603050405020304" pitchFamily="18" charset="0"/>
              </a:rPr>
              <a:t>interactive dashboard</a:t>
            </a:r>
            <a:r>
              <a:rPr lang="en-US" sz="2000" dirty="0">
                <a:latin typeface="Times New Roman" panose="02020603050405020304" pitchFamily="18" charset="0"/>
                <a:cs typeface="Times New Roman" panose="02020603050405020304" pitchFamily="18" charset="0"/>
              </a:rPr>
              <a:t> to monitor insurance claims in real time.</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Displays </a:t>
            </a:r>
            <a:r>
              <a:rPr lang="en-US" sz="2000" b="1" dirty="0">
                <a:latin typeface="Times New Roman" panose="02020603050405020304" pitchFamily="18" charset="0"/>
                <a:cs typeface="Times New Roman" panose="02020603050405020304" pitchFamily="18" charset="0"/>
              </a:rPr>
              <a:t>fraud detection results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risk scores</a:t>
            </a:r>
            <a:r>
              <a:rPr lang="en-US" sz="2000" dirty="0">
                <a:latin typeface="Times New Roman" panose="02020603050405020304" pitchFamily="18" charset="0"/>
                <a:cs typeface="Times New Roman" panose="02020603050405020304" pitchFamily="18" charset="0"/>
              </a:rPr>
              <a:t> for each claim.</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Generates </a:t>
            </a:r>
            <a:r>
              <a:rPr lang="en-US" sz="2000" b="1" dirty="0">
                <a:latin typeface="Times New Roman" panose="02020603050405020304" pitchFamily="18" charset="0"/>
                <a:cs typeface="Times New Roman" panose="02020603050405020304" pitchFamily="18" charset="0"/>
              </a:rPr>
              <a:t>reports, charts, and business analytics</a:t>
            </a:r>
            <a:r>
              <a:rPr lang="en-US" sz="2000" dirty="0">
                <a:latin typeface="Times New Roman" panose="02020603050405020304" pitchFamily="18" charset="0"/>
                <a:cs typeface="Times New Roman" panose="02020603050405020304" pitchFamily="18" charset="0"/>
              </a:rPr>
              <a:t> for better insights.</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Helps claim officers </a:t>
            </a:r>
            <a:r>
              <a:rPr lang="en-US" sz="2000" b="1" dirty="0">
                <a:latin typeface="Times New Roman" panose="02020603050405020304" pitchFamily="18" charset="0"/>
                <a:cs typeface="Times New Roman" panose="02020603050405020304" pitchFamily="18" charset="0"/>
              </a:rPr>
              <a:t>track claim status</a:t>
            </a:r>
            <a:r>
              <a:rPr lang="en-US" sz="2000" dirty="0">
                <a:latin typeface="Times New Roman" panose="02020603050405020304" pitchFamily="18" charset="0"/>
                <a:cs typeface="Times New Roman" panose="02020603050405020304" pitchFamily="18" charset="0"/>
              </a:rPr>
              <a:t> and investigation progress.</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Supports </a:t>
            </a:r>
            <a:r>
              <a:rPr lang="en-US" sz="2000" b="1" dirty="0">
                <a:latin typeface="Times New Roman" panose="02020603050405020304" pitchFamily="18" charset="0"/>
                <a:cs typeface="Times New Roman" panose="02020603050405020304" pitchFamily="18" charset="0"/>
              </a:rPr>
              <a:t>data-driven decision-making</a:t>
            </a:r>
            <a:r>
              <a:rPr lang="en-US" sz="2000" dirty="0">
                <a:latin typeface="Times New Roman" panose="02020603050405020304" pitchFamily="18" charset="0"/>
                <a:cs typeface="Times New Roman" panose="02020603050405020304" pitchFamily="18" charset="0"/>
              </a:rPr>
              <a:t> for claim approval or rejection.</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Improves operational efficiency by enabling </a:t>
            </a:r>
            <a:r>
              <a:rPr lang="en-US" sz="2000" b="1" dirty="0">
                <a:latin typeface="Times New Roman" panose="02020603050405020304" pitchFamily="18" charset="0"/>
                <a:cs typeface="Times New Roman" panose="02020603050405020304" pitchFamily="18" charset="0"/>
              </a:rPr>
              <a:t>faster and more accurate decisions</a:t>
            </a:r>
            <a:r>
              <a:rPr lang="en-US" sz="20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3973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slide1_img0.png">
            <a:extLst>
              <a:ext uri="{FF2B5EF4-FFF2-40B4-BE49-F238E27FC236}">
                <a16:creationId xmlns:a16="http://schemas.microsoft.com/office/drawing/2014/main" id="{698C5116-CE46-405E-962E-CE8C1F031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1371"/>
            <a:ext cx="12192000" cy="11525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96A14A4-8E99-44D1-A1F1-6E07DA80AA49}"/>
              </a:ext>
            </a:extLst>
          </p:cNvPr>
          <p:cNvSpPr/>
          <p:nvPr/>
        </p:nvSpPr>
        <p:spPr>
          <a:xfrm>
            <a:off x="4451578" y="1548884"/>
            <a:ext cx="2967479" cy="584775"/>
          </a:xfrm>
          <a:prstGeom prst="rect">
            <a:avLst/>
          </a:prstGeom>
        </p:spPr>
        <p:txBody>
          <a:bodyPr wrap="none">
            <a:spAutoFit/>
          </a:bodyPr>
          <a:lstStyle/>
          <a:p>
            <a:r>
              <a:rPr lang="en-IN" sz="3200" b="1" dirty="0">
                <a:latin typeface="Times New Roman"/>
                <a:cs typeface="Times New Roman"/>
              </a:rPr>
              <a:t>CONCLUSION</a:t>
            </a:r>
          </a:p>
        </p:txBody>
      </p:sp>
      <p:sp>
        <p:nvSpPr>
          <p:cNvPr id="4" name="Rectangle 1">
            <a:extLst>
              <a:ext uri="{FF2B5EF4-FFF2-40B4-BE49-F238E27FC236}">
                <a16:creationId xmlns:a16="http://schemas.microsoft.com/office/drawing/2014/main" id="{28D9F000-DE09-42FB-A022-7A8775F4819B}"/>
              </a:ext>
            </a:extLst>
          </p:cNvPr>
          <p:cNvSpPr>
            <a:spLocks noChangeArrowheads="1"/>
          </p:cNvSpPr>
          <p:nvPr/>
        </p:nvSpPr>
        <p:spPr bwMode="auto">
          <a:xfrm>
            <a:off x="596080" y="2604919"/>
            <a:ext cx="10435713" cy="333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Developed an </a:t>
            </a:r>
            <a:r>
              <a:rPr lang="en-US" b="1" dirty="0">
                <a:latin typeface="Times New Roman" panose="02020603050405020304" pitchFamily="18" charset="0"/>
                <a:cs typeface="Times New Roman" panose="02020603050405020304" pitchFamily="18" charset="0"/>
              </a:rPr>
              <a:t>AI-powered platform</a:t>
            </a:r>
            <a:r>
              <a:rPr lang="en-US" dirty="0">
                <a:latin typeface="Times New Roman" panose="02020603050405020304" pitchFamily="18" charset="0"/>
                <a:cs typeface="Times New Roman" panose="02020603050405020304" pitchFamily="18" charset="0"/>
              </a:rPr>
              <a:t> to detect fraudulent insurance claims and assess claim risks.</a:t>
            </a:r>
          </a:p>
          <a:p>
            <a:pPr marL="285750" lvl="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Centralized insurance data using </a:t>
            </a:r>
            <a:r>
              <a:rPr lang="en-US" b="1" dirty="0">
                <a:latin typeface="Times New Roman" panose="02020603050405020304" pitchFamily="18" charset="0"/>
                <a:cs typeface="Times New Roman" panose="02020603050405020304" pitchFamily="18" charset="0"/>
              </a:rPr>
              <a:t>ETL and Data Warehousing</a:t>
            </a:r>
            <a:r>
              <a:rPr lang="en-US" dirty="0">
                <a:latin typeface="Times New Roman" panose="02020603050405020304" pitchFamily="18" charset="0"/>
                <a:cs typeface="Times New Roman" panose="02020603050405020304" pitchFamily="18" charset="0"/>
              </a:rPr>
              <a:t> for efficient data management.</a:t>
            </a:r>
          </a:p>
          <a:p>
            <a:pPr marL="285750" lvl="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Applied </a:t>
            </a:r>
            <a:r>
              <a:rPr lang="en-US" b="1" dirty="0">
                <a:latin typeface="Times New Roman" panose="02020603050405020304" pitchFamily="18" charset="0"/>
                <a:cs typeface="Times New Roman" panose="02020603050405020304" pitchFamily="18" charset="0"/>
              </a:rPr>
              <a:t>AI and Data Mining</a:t>
            </a:r>
            <a:r>
              <a:rPr lang="en-US" dirty="0">
                <a:latin typeface="Times New Roman" panose="02020603050405020304" pitchFamily="18" charset="0"/>
                <a:cs typeface="Times New Roman" panose="02020603050405020304" pitchFamily="18" charset="0"/>
              </a:rPr>
              <a:t> techniques to improve fraud detection accuracy and risk prediction.</a:t>
            </a:r>
          </a:p>
          <a:p>
            <a:pPr marL="285750" lvl="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Provided </a:t>
            </a:r>
            <a:r>
              <a:rPr lang="en-US" b="1" dirty="0">
                <a:latin typeface="Times New Roman" panose="02020603050405020304" pitchFamily="18" charset="0"/>
                <a:cs typeface="Times New Roman" panose="02020603050405020304" pitchFamily="18" charset="0"/>
              </a:rPr>
              <a:t>interactive dashboards and analytics</a:t>
            </a:r>
            <a:r>
              <a:rPr lang="en-US" dirty="0">
                <a:latin typeface="Times New Roman" panose="02020603050405020304" pitchFamily="18" charset="0"/>
                <a:cs typeface="Times New Roman" panose="02020603050405020304" pitchFamily="18" charset="0"/>
              </a:rPr>
              <a:t> for faster, data-driven decision-making.</a:t>
            </a:r>
          </a:p>
          <a:p>
            <a:pPr marL="285750" lvl="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Reduced financial losses, improved claim processing efficiency, and enhanced customer satisfaction through intelligent insurance analytics.</a:t>
            </a:r>
          </a:p>
        </p:txBody>
      </p:sp>
    </p:spTree>
    <p:extLst>
      <p:ext uri="{BB962C8B-B14F-4D97-AF65-F5344CB8AC3E}">
        <p14:creationId xmlns:p14="http://schemas.microsoft.com/office/powerpoint/2010/main" val="1266345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EF61B-6CCF-4BE7-BAA7-800F851EFEB3}"/>
              </a:ext>
            </a:extLst>
          </p:cNvPr>
          <p:cNvSpPr>
            <a:spLocks noGrp="1"/>
          </p:cNvSpPr>
          <p:nvPr>
            <p:ph type="title"/>
          </p:nvPr>
        </p:nvSpPr>
        <p:spPr>
          <a:xfrm>
            <a:off x="3329608" y="954697"/>
            <a:ext cx="5241235" cy="1325563"/>
          </a:xfrm>
        </p:spPr>
        <p:txBody>
          <a:bodyPr/>
          <a:lstStyle/>
          <a:p>
            <a:pPr algn="ctr">
              <a:spcAft>
                <a:spcPts val="600"/>
              </a:spcAft>
            </a:pPr>
            <a:r>
              <a:rPr lang="en-US" sz="3200" b="1" cap="all" spc="30" dirty="0">
                <a:latin typeface="Times New Roman" panose="02020603050405020304" pitchFamily="18" charset="0"/>
                <a:cs typeface="Times New Roman" panose="02020603050405020304" pitchFamily="18" charset="0"/>
              </a:rPr>
              <a:t>Future Scope</a:t>
            </a:r>
          </a:p>
        </p:txBody>
      </p:sp>
      <p:sp>
        <p:nvSpPr>
          <p:cNvPr id="3" name="Rectangle 1">
            <a:extLst>
              <a:ext uri="{FF2B5EF4-FFF2-40B4-BE49-F238E27FC236}">
                <a16:creationId xmlns:a16="http://schemas.microsoft.com/office/drawing/2014/main" id="{7AC08567-3AA0-4264-A5C5-587FCE20896E}"/>
              </a:ext>
            </a:extLst>
          </p:cNvPr>
          <p:cNvSpPr>
            <a:spLocks noChangeArrowheads="1"/>
          </p:cNvSpPr>
          <p:nvPr/>
        </p:nvSpPr>
        <p:spPr bwMode="auto">
          <a:xfrm>
            <a:off x="68324" y="1831573"/>
            <a:ext cx="6831602"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Integrate </a:t>
            </a:r>
            <a:r>
              <a:rPr lang="en-US" sz="2000" b="1" dirty="0">
                <a:latin typeface="Times New Roman" panose="02020603050405020304" pitchFamily="18" charset="0"/>
                <a:cs typeface="Times New Roman" panose="02020603050405020304" pitchFamily="18" charset="0"/>
              </a:rPr>
              <a:t>real-time data</a:t>
            </a:r>
            <a:r>
              <a:rPr lang="en-US" sz="2000" dirty="0">
                <a:latin typeface="Times New Roman" panose="02020603050405020304" pitchFamily="18" charset="0"/>
                <a:cs typeface="Times New Roman" panose="02020603050405020304" pitchFamily="18" charset="0"/>
              </a:rPr>
              <a:t> from hospitals, repair centers, and IoT devices for faster fraud detection.</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Deploy the platform on the </a:t>
            </a:r>
            <a:r>
              <a:rPr lang="en-US" sz="2000" b="1" dirty="0">
                <a:latin typeface="Times New Roman" panose="02020603050405020304" pitchFamily="18" charset="0"/>
                <a:cs typeface="Times New Roman" panose="02020603050405020304" pitchFamily="18" charset="0"/>
              </a:rPr>
              <a:t>cloud</a:t>
            </a:r>
            <a:r>
              <a:rPr lang="en-US" sz="2000" dirty="0">
                <a:latin typeface="Times New Roman" panose="02020603050405020304" pitchFamily="18" charset="0"/>
                <a:cs typeface="Times New Roman" panose="02020603050405020304" pitchFamily="18" charset="0"/>
              </a:rPr>
              <a:t> to improve scalability, security, and accessibility.</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Implement </a:t>
            </a:r>
            <a:r>
              <a:rPr lang="en-US" sz="2000" b="1" dirty="0">
                <a:latin typeface="Times New Roman" panose="02020603050405020304" pitchFamily="18" charset="0"/>
                <a:cs typeface="Times New Roman" panose="02020603050405020304" pitchFamily="18" charset="0"/>
              </a:rPr>
              <a:t>deep learning and explainable AI (XAI)</a:t>
            </a:r>
            <a:r>
              <a:rPr lang="en-US" sz="2000" dirty="0">
                <a:latin typeface="Times New Roman" panose="02020603050405020304" pitchFamily="18" charset="0"/>
                <a:cs typeface="Times New Roman" panose="02020603050405020304" pitchFamily="18" charset="0"/>
              </a:rPr>
              <a:t> to enhance fraud detection accuracy and transparency.</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 a </a:t>
            </a:r>
            <a:r>
              <a:rPr lang="en-US" sz="2000" b="1" dirty="0">
                <a:latin typeface="Times New Roman" panose="02020603050405020304" pitchFamily="18" charset="0"/>
                <a:cs typeface="Times New Roman" panose="02020603050405020304" pitchFamily="18" charset="0"/>
              </a:rPr>
              <a:t>mobile application</a:t>
            </a:r>
            <a:r>
              <a:rPr lang="en-US" sz="2000" dirty="0">
                <a:latin typeface="Times New Roman" panose="02020603050405020304" pitchFamily="18" charset="0"/>
                <a:cs typeface="Times New Roman" panose="02020603050405020304" pitchFamily="18" charset="0"/>
              </a:rPr>
              <a:t> for claim tracking, fraud alerts, and risk monitoring.</a:t>
            </a: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Incorporate </a:t>
            </a:r>
            <a:r>
              <a:rPr lang="en-US" sz="2000" b="1" dirty="0">
                <a:latin typeface="Times New Roman" panose="02020603050405020304" pitchFamily="18" charset="0"/>
                <a:cs typeface="Times New Roman" panose="02020603050405020304" pitchFamily="18" charset="0"/>
              </a:rPr>
              <a:t>blockchain technology</a:t>
            </a:r>
            <a:r>
              <a:rPr lang="en-US" sz="2000" dirty="0">
                <a:latin typeface="Times New Roman" panose="02020603050405020304" pitchFamily="18" charset="0"/>
                <a:cs typeface="Times New Roman" panose="02020603050405020304" pitchFamily="18" charset="0"/>
              </a:rPr>
              <a:t> to ensure secure, transparent, and tamper-proof insurance claim records.</a:t>
            </a:r>
          </a:p>
        </p:txBody>
      </p:sp>
      <p:pic>
        <p:nvPicPr>
          <p:cNvPr id="4" name="Picture 2" descr="slide1_img0.png">
            <a:extLst>
              <a:ext uri="{FF2B5EF4-FFF2-40B4-BE49-F238E27FC236}">
                <a16:creationId xmlns:a16="http://schemas.microsoft.com/office/drawing/2014/main" id="{87CE3BB3-B3BD-433B-A877-1FD8C4B99E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709"/>
            <a:ext cx="121920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s://images.openai.com/static-rsc-4/EKkSuVsuCRJmkPOo1x--sL4HhDwOHbwZBIVPK7-bvrsrj_qVlykmRoANhTt9IU6SaoLMNxZOIh1srbmcSdJ5hr2xkTHLIxQ7ql2SDUHw9LqS-jss5m9GZkkQZuVk1L0sgPU2Uw9UhBByLygQnV3yRBlUymsvwH56CxKBwmwmxh8AMFHWTJ78ZMEPg3cuBdIq?purpose=fullsize">
            <a:extLst>
              <a:ext uri="{FF2B5EF4-FFF2-40B4-BE49-F238E27FC236}">
                <a16:creationId xmlns:a16="http://schemas.microsoft.com/office/drawing/2014/main" id="{783F3F1F-553B-1A79-4AEE-9A390BC166BE}"/>
              </a:ext>
            </a:extLst>
          </p:cNvPr>
          <p:cNvPicPr>
            <a:picLocks noChangeAspect="1"/>
          </p:cNvPicPr>
          <p:nvPr/>
        </p:nvPicPr>
        <p:blipFill>
          <a:blip r:embed="rId3"/>
          <a:stretch>
            <a:fillRect/>
          </a:stretch>
        </p:blipFill>
        <p:spPr>
          <a:xfrm>
            <a:off x="6971747" y="2107221"/>
            <a:ext cx="5151929" cy="4653645"/>
          </a:xfrm>
          <a:prstGeom prst="rect">
            <a:avLst/>
          </a:prstGeom>
        </p:spPr>
      </p:pic>
    </p:spTree>
    <p:extLst>
      <p:ext uri="{BB962C8B-B14F-4D97-AF65-F5344CB8AC3E}">
        <p14:creationId xmlns:p14="http://schemas.microsoft.com/office/powerpoint/2010/main" val="3555738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slide1_img0.png">
            <a:extLst>
              <a:ext uri="{FF2B5EF4-FFF2-40B4-BE49-F238E27FC236}">
                <a16:creationId xmlns:a16="http://schemas.microsoft.com/office/drawing/2014/main" id="{62BEDEC3-E263-4739-A97C-95DA4CF18D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11525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91ECFC9-524B-4592-A5D5-5BF0DBDC3380}"/>
              </a:ext>
            </a:extLst>
          </p:cNvPr>
          <p:cNvSpPr/>
          <p:nvPr/>
        </p:nvSpPr>
        <p:spPr>
          <a:xfrm>
            <a:off x="4491008" y="1281601"/>
            <a:ext cx="2945037" cy="584775"/>
          </a:xfrm>
          <a:prstGeom prst="rect">
            <a:avLst/>
          </a:prstGeom>
        </p:spPr>
        <p:txBody>
          <a:bodyPr wrap="none">
            <a:spAutoFit/>
          </a:bodyPr>
          <a:lstStyle/>
          <a:p>
            <a:r>
              <a:rPr lang="en-US" sz="3200" b="1" dirty="0">
                <a:latin typeface="Times New Roman"/>
                <a:cs typeface="Times New Roman"/>
              </a:rPr>
              <a:t>REFERENCES</a:t>
            </a:r>
            <a:endParaRPr lang="en-IN" sz="3200" b="1" dirty="0">
              <a:latin typeface="Times New Roman"/>
              <a:cs typeface="Times New Roman"/>
            </a:endParaRPr>
          </a:p>
        </p:txBody>
      </p:sp>
      <p:sp>
        <p:nvSpPr>
          <p:cNvPr id="4" name="Rectangle 3">
            <a:extLst>
              <a:ext uri="{FF2B5EF4-FFF2-40B4-BE49-F238E27FC236}">
                <a16:creationId xmlns:a16="http://schemas.microsoft.com/office/drawing/2014/main" id="{40384140-B83C-40D8-950D-259993DF976B}"/>
              </a:ext>
            </a:extLst>
          </p:cNvPr>
          <p:cNvSpPr/>
          <p:nvPr/>
        </p:nvSpPr>
        <p:spPr>
          <a:xfrm>
            <a:off x="214313" y="1995452"/>
            <a:ext cx="11763374" cy="4653646"/>
          </a:xfrm>
          <a:prstGeom prst="rect">
            <a:avLst/>
          </a:prstGeom>
        </p:spPr>
        <p:txBody>
          <a:bodyPr wrap="square">
            <a:spAutoFit/>
          </a:bodyPr>
          <a:lstStyle/>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Gomes, C., Jin, Z., &amp; Yang, H. (2021). </a:t>
            </a:r>
            <a:r>
              <a:rPr lang="en-US" sz="2000" i="1" dirty="0">
                <a:latin typeface="Times New Roman" panose="02020603050405020304" pitchFamily="18" charset="0"/>
                <a:cs typeface="Times New Roman" panose="02020603050405020304" pitchFamily="18" charset="0"/>
              </a:rPr>
              <a:t>Insurance fraud detection with unsupervised deep learning</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Journal of Risk and Insurance, 88</a:t>
            </a:r>
            <a:r>
              <a:rPr lang="en-US" sz="2000" dirty="0">
                <a:latin typeface="Times New Roman" panose="02020603050405020304" pitchFamily="18" charset="0"/>
                <a:cs typeface="Times New Roman" panose="02020603050405020304" pitchFamily="18" charset="0"/>
              </a:rPr>
              <a:t>(3), 591–624. https://doi.org/10.1111/jori.12359 </a:t>
            </a:r>
            <a:r>
              <a:rPr lang="en-US" sz="2000" dirty="0">
                <a:latin typeface="Times New Roman" panose="02020603050405020304" pitchFamily="18" charset="0"/>
                <a:cs typeface="Times New Roman" panose="02020603050405020304" pitchFamily="18" charset="0"/>
                <a:hlinkClick r:id="rId3"/>
              </a:rPr>
              <a:t>Wiley Online Library</a:t>
            </a:r>
            <a:endParaRPr lang="en-US" sz="20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Kumar, P. A., &amp; </a:t>
            </a:r>
            <a:r>
              <a:rPr lang="en-US" sz="2000" dirty="0" err="1">
                <a:latin typeface="Times New Roman" panose="02020603050405020304" pitchFamily="18" charset="0"/>
                <a:cs typeface="Times New Roman" panose="02020603050405020304" pitchFamily="18" charset="0"/>
              </a:rPr>
              <a:t>Sountharrajan</a:t>
            </a:r>
            <a:r>
              <a:rPr lang="en-US" sz="2000" dirty="0">
                <a:latin typeface="Times New Roman" panose="02020603050405020304" pitchFamily="18" charset="0"/>
                <a:cs typeface="Times New Roman" panose="02020603050405020304" pitchFamily="18" charset="0"/>
              </a:rPr>
              <a:t>, S. (2025). </a:t>
            </a:r>
            <a:r>
              <a:rPr lang="en-US" sz="2000" i="1" dirty="0">
                <a:latin typeface="Times New Roman" panose="02020603050405020304" pitchFamily="18" charset="0"/>
                <a:cs typeface="Times New Roman" panose="02020603050405020304" pitchFamily="18" charset="0"/>
              </a:rPr>
              <a:t>Insurance claims estimation and fraud detection with optimized deep learning techniques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Scientific Reports, 15</a:t>
            </a:r>
            <a:r>
              <a:rPr lang="en-US" sz="2000" dirty="0">
                <a:latin typeface="Times New Roman" panose="02020603050405020304" pitchFamily="18" charset="0"/>
                <a:cs typeface="Times New Roman" panose="02020603050405020304" pitchFamily="18" charset="0"/>
              </a:rPr>
              <a:t>, 27296. https://doi.org/10.1038/s41598-025-12848-0 </a:t>
            </a:r>
            <a:r>
              <a:rPr lang="en-US" sz="2000" dirty="0">
                <a:latin typeface="Times New Roman" panose="02020603050405020304" pitchFamily="18" charset="0"/>
                <a:cs typeface="Times New Roman" panose="02020603050405020304" pitchFamily="18" charset="0"/>
                <a:hlinkClick r:id="rId4"/>
              </a:rPr>
              <a:t>Nature</a:t>
            </a:r>
            <a:endParaRPr lang="en-US" sz="20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Dana </a:t>
            </a:r>
            <a:r>
              <a:rPr lang="en-US" sz="2000" dirty="0" err="1">
                <a:latin typeface="Times New Roman" panose="02020603050405020304" pitchFamily="18" charset="0"/>
                <a:cs typeface="Times New Roman" panose="02020603050405020304" pitchFamily="18" charset="0"/>
              </a:rPr>
              <a:t>Ebinezer</a:t>
            </a:r>
            <a:r>
              <a:rPr lang="en-US" sz="2000" dirty="0">
                <a:latin typeface="Times New Roman" panose="02020603050405020304" pitchFamily="18" charset="0"/>
                <a:cs typeface="Times New Roman" panose="02020603050405020304" pitchFamily="18" charset="0"/>
              </a:rPr>
              <a:t>, M. J., &amp; Krishna, B. C. (2025). </a:t>
            </a:r>
            <a:r>
              <a:rPr lang="en-US" sz="2000" i="1" dirty="0">
                <a:latin typeface="Times New Roman" panose="02020603050405020304" pitchFamily="18" charset="0"/>
                <a:cs typeface="Times New Roman" panose="02020603050405020304" pitchFamily="18" charset="0"/>
              </a:rPr>
              <a:t>Life Insurance Fraud Detection: A Data-Driven Approach Utilizing Ensemble Learning, CVAE, and Bi-LSTM</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Applied Sciences, 15</a:t>
            </a:r>
            <a:r>
              <a:rPr lang="en-US" sz="2000" dirty="0">
                <a:latin typeface="Times New Roman" panose="02020603050405020304" pitchFamily="18" charset="0"/>
                <a:cs typeface="Times New Roman" panose="02020603050405020304" pitchFamily="18" charset="0"/>
              </a:rPr>
              <a:t>(16), 8869. </a:t>
            </a:r>
            <a:r>
              <a:rPr lang="en-US" sz="2000" dirty="0">
                <a:latin typeface="Times New Roman" panose="02020603050405020304" pitchFamily="18" charset="0"/>
                <a:cs typeface="Times New Roman" panose="02020603050405020304" pitchFamily="18" charset="0"/>
                <a:hlinkClick r:id="rId5"/>
              </a:rPr>
              <a:t>https://doi.org/10.3390/app15168869</a:t>
            </a:r>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hlinkClick r:id="rId6"/>
              </a:rPr>
              <a:t>MDPI</a:t>
            </a:r>
            <a:endParaRPr lang="en-US" sz="20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Pant, P. (2025). </a:t>
            </a:r>
            <a:r>
              <a:rPr lang="en-US" sz="2000" i="1" dirty="0">
                <a:latin typeface="Times New Roman" panose="02020603050405020304" pitchFamily="18" charset="0"/>
                <a:cs typeface="Times New Roman" panose="02020603050405020304" pitchFamily="18" charset="0"/>
              </a:rPr>
              <a:t>Data Warehousing, AI, and P&amp;C Insurance: A Transformative Approach</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International Research Journal of Modernization in Engineering Technology and Science (IRJMETS)</a:t>
            </a:r>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hlinkClick r:id="rId7"/>
              </a:rPr>
              <a:t>ResearchGate</a:t>
            </a:r>
            <a:endParaRPr lang="en-US" sz="2000" dirty="0">
              <a:latin typeface="Times New Roman" panose="02020603050405020304" pitchFamily="18" charset="0"/>
              <a:cs typeface="Times New Roman" panose="02020603050405020304" pitchFamily="18" charset="0"/>
            </a:endParaRPr>
          </a:p>
          <a:p>
            <a:pPr lvl="0">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5802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ank You Digital Images – Browse 100,937 Stock Photos, Vectors, and Video | Adobe Stock">
            <a:extLst>
              <a:ext uri="{FF2B5EF4-FFF2-40B4-BE49-F238E27FC236}">
                <a16:creationId xmlns:a16="http://schemas.microsoft.com/office/drawing/2014/main" id="{C7F7BEAD-DD65-0176-5824-D00019263F0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137359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229</TotalTime>
  <Words>1097</Words>
  <Application>Microsoft Office PowerPoint</Application>
  <PresentationFormat>Widescreen</PresentationFormat>
  <Paragraphs>93</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AI-Powered Insurance Claim Fraud Detection and Risk Analytics Platform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Scope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Nikhil Sagar</dc:creator>
  <cp:lastModifiedBy>Kothakota Rakesh</cp:lastModifiedBy>
  <cp:revision>17</cp:revision>
  <dcterms:created xsi:type="dcterms:W3CDTF">2026-06-23T16:09:50Z</dcterms:created>
  <dcterms:modified xsi:type="dcterms:W3CDTF">2026-08-11T07:51:47Z</dcterms:modified>
</cp:coreProperties>
</file>