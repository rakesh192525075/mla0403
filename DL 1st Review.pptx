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08" r:id="rId1"/>
  </p:sldMasterIdLst>
  <p:notesMasterIdLst>
    <p:notesMasterId r:id="rId27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59" r:id="rId11"/>
    <p:sldId id="448" r:id="rId12"/>
    <p:sldId id="423" r:id="rId13"/>
    <p:sldId id="41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27" r:id="rId24"/>
    <p:sldId id="428" r:id="rId25"/>
    <p:sldId id="44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5033" autoAdjust="0"/>
  </p:normalViewPr>
  <p:slideViewPr>
    <p:cSldViewPr>
      <p:cViewPr varScale="1">
        <p:scale>
          <a:sx n="82" d="100"/>
          <a:sy n="82" d="100"/>
        </p:scale>
        <p:origin x="64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83300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CFAFF28D-056B-81A1-62F2-07F88859E1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50400" y="152401"/>
            <a:ext cx="264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A7CF49F-15DA-E268-1B1A-1AAE3A5AC5C8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9499600" y="43933"/>
            <a:ext cx="304800" cy="369332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800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770844-359D-37B1-9BEF-A7A6C0FA0D60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9499600" y="424934"/>
            <a:ext cx="304800" cy="369332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800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09DC5548-DBB7-FA08-9446-EA045B5D63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40800" y="838200"/>
            <a:ext cx="3251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DBE1BA00-9ED1-CE7F-D7F7-182001AC4A1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1"/>
            <a:ext cx="8839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 sz="1800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 sz="180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849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54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206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967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3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38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46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23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15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94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4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3657600" y="2057401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1180322" y="2023189"/>
            <a:ext cx="10210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ctr">
              <a:defRPr sz="22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 in Mobile Phone Systems Using Deep Belief Network (DBN)</a:t>
            </a: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MLA0403 – Deep Learning</a:t>
            </a: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72" y="533400"/>
            <a:ext cx="10719456" cy="99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0B2151-BE31-7852-3F85-D41A79A2B8B3}"/>
              </a:ext>
            </a:extLst>
          </p:cNvPr>
          <p:cNvSpPr/>
          <p:nvPr/>
        </p:nvSpPr>
        <p:spPr>
          <a:xfrm>
            <a:off x="152400" y="5105400"/>
            <a:ext cx="3962400" cy="175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Dr.A.M.Arul Raj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9C2FD-FE74-4ABE-F804-07003187930B}"/>
              </a:ext>
            </a:extLst>
          </p:cNvPr>
          <p:cNvSpPr/>
          <p:nvPr/>
        </p:nvSpPr>
        <p:spPr>
          <a:xfrm>
            <a:off x="7086600" y="4374511"/>
            <a:ext cx="5638800" cy="23177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Kothakota Rakesh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Rafiqhuddin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Akash</a:t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Santhosh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325" y="1422242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55286"/>
            <a:ext cx="6000000" cy="2147428"/>
          </a:xfrm>
        </p:spPr>
        <p:txBody>
          <a:bodyPr>
            <a:noAutofit/>
          </a:bodyPr>
          <a:lstStyle/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are increasingly targeted by cyber attacks.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Belief Network (DBN) learns patterns from network traffic.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malicious activities with high accuracy.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mobile network security through intelligent intrusion detection.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107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1" name="Card 1001"/>
          <p:cNvSpPr/>
          <p:nvPr/>
        </p:nvSpPr>
        <p:spPr>
          <a:xfrm>
            <a:off x="7250000" y="2150000"/>
            <a:ext cx="2081420" cy="1706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02" name="Icon 1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160" y="2287160"/>
            <a:ext cx="480000" cy="480000"/>
          </a:xfrm>
          <a:prstGeom prst="ellipse">
            <a:avLst/>
          </a:prstGeom>
        </p:spPr>
      </p:pic>
      <p:sp>
        <p:nvSpPr>
          <p:cNvPr id="1003" name="CardText 1003"/>
          <p:cNvSpPr txBox="1"/>
          <p:nvPr/>
        </p:nvSpPr>
        <p:spPr>
          <a:xfrm>
            <a:off x="7387160" y="2812880"/>
            <a:ext cx="1807100" cy="906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Rising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face growing threats</a:t>
            </a:r>
          </a:p>
        </p:txBody>
      </p:sp>
      <p:sp>
        <p:nvSpPr>
          <p:cNvPr id="1004" name="Card 1004"/>
          <p:cNvSpPr/>
          <p:nvPr/>
        </p:nvSpPr>
        <p:spPr>
          <a:xfrm>
            <a:off x="9468580" y="2150000"/>
            <a:ext cx="2081420" cy="1706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05" name="Icon 10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40" y="2287160"/>
            <a:ext cx="480000" cy="480000"/>
          </a:xfrm>
          <a:prstGeom prst="ellipse">
            <a:avLst/>
          </a:prstGeom>
        </p:spPr>
      </p:pic>
      <p:sp>
        <p:nvSpPr>
          <p:cNvPr id="1006" name="CardText 1006"/>
          <p:cNvSpPr txBox="1"/>
          <p:nvPr/>
        </p:nvSpPr>
        <p:spPr>
          <a:xfrm>
            <a:off x="9605740" y="2812880"/>
            <a:ext cx="1807100" cy="906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DBN Learns Patterns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from real network traffic</a:t>
            </a:r>
          </a:p>
        </p:txBody>
      </p:sp>
      <p:sp>
        <p:nvSpPr>
          <p:cNvPr id="1007" name="Card 1007"/>
          <p:cNvSpPr/>
          <p:nvPr/>
        </p:nvSpPr>
        <p:spPr>
          <a:xfrm>
            <a:off x="7250000" y="3993580"/>
            <a:ext cx="2081420" cy="1706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08" name="Icon 10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160" y="4130740"/>
            <a:ext cx="480000" cy="480000"/>
          </a:xfrm>
          <a:prstGeom prst="ellipse">
            <a:avLst/>
          </a:prstGeom>
        </p:spPr>
      </p:pic>
      <p:sp>
        <p:nvSpPr>
          <p:cNvPr id="1009" name="CardText 1009"/>
          <p:cNvSpPr txBox="1"/>
          <p:nvPr/>
        </p:nvSpPr>
        <p:spPr>
          <a:xfrm>
            <a:off x="7387160" y="4656460"/>
            <a:ext cx="1807100" cy="906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malicious activity reliably</a:t>
            </a:r>
          </a:p>
        </p:txBody>
      </p:sp>
      <p:sp>
        <p:nvSpPr>
          <p:cNvPr id="1010" name="Card 1010"/>
          <p:cNvSpPr/>
          <p:nvPr/>
        </p:nvSpPr>
        <p:spPr>
          <a:xfrm>
            <a:off x="9468580" y="3993580"/>
            <a:ext cx="2081420" cy="1706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11" name="Icon 10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40" y="4130740"/>
            <a:ext cx="480000" cy="480000"/>
          </a:xfrm>
          <a:prstGeom prst="ellipse">
            <a:avLst/>
          </a:prstGeom>
        </p:spPr>
      </p:pic>
      <p:sp>
        <p:nvSpPr>
          <p:cNvPr id="1012" name="CardText 1012"/>
          <p:cNvSpPr txBox="1"/>
          <p:nvPr/>
        </p:nvSpPr>
        <p:spPr>
          <a:xfrm>
            <a:off x="9605740" y="4656460"/>
            <a:ext cx="1807100" cy="906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Stronger Security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Smarter protection for mobile networks</a:t>
            </a:r>
          </a:p>
        </p:txBody>
      </p:sp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325" y="103764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48433"/>
            <a:ext cx="5105400" cy="4390479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 (IDS)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networks using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detecting cyberattacks while reducing false alarms and enhancing mobile network security.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FF93A3-2D93-03BB-EBA8-32B878F29AEC}"/>
              </a:ext>
            </a:extLst>
          </p:cNvPr>
          <p:cNvSpPr txBox="1"/>
          <p:nvPr/>
        </p:nvSpPr>
        <p:spPr>
          <a:xfrm>
            <a:off x="5943600" y="2266180"/>
            <a:ext cx="5943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mobile network traffic data for model training.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distinguish between normal and malicious network behaviour.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different types of network intrusions with high accuracy and low false alarm rates.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security alerts to help protect mobile devices and networks from cyber threats.</a:t>
            </a:r>
          </a:p>
        </p:txBody>
      </p:sp>
      <p:pic>
        <p:nvPicPr>
          <p:cNvPr id="1013" name="Icon 10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430000"/>
            <a:ext cx="750000" cy="750000"/>
          </a:xfrm>
          <a:prstGeom prst="ellipse">
            <a:avLst/>
          </a:prstGeom>
        </p:spPr>
      </p:pic>
      <p:pic>
        <p:nvPicPr>
          <p:cNvPr id="1014" name="Icon 10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000" y="430000"/>
            <a:ext cx="750000" cy="75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25" y="1422242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427738"/>
            <a:ext cx="11734800" cy="4075294"/>
          </a:xfrm>
        </p:spPr>
        <p:txBody>
          <a:bodyPr>
            <a:no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 have become an essential part of daily life, making them a common target for cyber attacks such as malware, phishing, and unauthorized access.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often fail to detect new and sophisticated attacks due to their reliance on predefined signatures.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326959-513D-75A1-B0E3-16710E4E0B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464" y="3856653"/>
            <a:ext cx="3435936" cy="22906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AD9724-F06D-A3FC-6652-5FE3F296C2F5}"/>
              </a:ext>
            </a:extLst>
          </p:cNvPr>
          <p:cNvSpPr txBox="1">
            <a:spLocks/>
          </p:cNvSpPr>
          <p:nvPr/>
        </p:nvSpPr>
        <p:spPr>
          <a:xfrm>
            <a:off x="228600" y="3886200"/>
            <a:ext cx="8153400" cy="2290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techniques, especially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Networks (DBN)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automatically learn complex patterns from network traffic and identify both known and unknown intrusions.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DBN-based Intrusion Detection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accuracy, efficiency, and reliability of mobile network security through intelligent attack detection.</a:t>
            </a:r>
          </a:p>
        </p:txBody>
      </p:sp>
      <p:pic>
        <p:nvPicPr>
          <p:cNvPr id="1015" name="Icon 10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430000"/>
            <a:ext cx="750000" cy="750000"/>
          </a:xfrm>
          <a:prstGeom prst="ellipse">
            <a:avLst/>
          </a:prstGeom>
        </p:spPr>
      </p:pic>
      <p:pic>
        <p:nvPicPr>
          <p:cNvPr id="1016" name="Icon 10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0000" y="430000"/>
            <a:ext cx="750000" cy="7500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16942"/>
            <a:ext cx="8626475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786" y="147410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D6001-E4CB-CB1E-3B44-3ABD3DE2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01185"/>
              </p:ext>
            </p:extLst>
          </p:nvPr>
        </p:nvGraphicFramePr>
        <p:xfrm>
          <a:off x="457200" y="1847093"/>
          <a:ext cx="11468102" cy="453102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7794">
                  <a:extLst>
                    <a:ext uri="{9D8B030D-6E8A-4147-A177-3AD203B41FA5}">
                      <a16:colId xmlns:a16="http://schemas.microsoft.com/office/drawing/2014/main" val="492927034"/>
                    </a:ext>
                  </a:extLst>
                </a:gridCol>
                <a:gridCol w="1863567">
                  <a:extLst>
                    <a:ext uri="{9D8B030D-6E8A-4147-A177-3AD203B41FA5}">
                      <a16:colId xmlns:a16="http://schemas.microsoft.com/office/drawing/2014/main" val="3580393463"/>
                    </a:ext>
                  </a:extLst>
                </a:gridCol>
                <a:gridCol w="2033540">
                  <a:extLst>
                    <a:ext uri="{9D8B030D-6E8A-4147-A177-3AD203B41FA5}">
                      <a16:colId xmlns:a16="http://schemas.microsoft.com/office/drawing/2014/main" val="362360821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76283013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114339948"/>
                    </a:ext>
                  </a:extLst>
                </a:gridCol>
                <a:gridCol w="1604685">
                  <a:extLst>
                    <a:ext uri="{9D8B030D-6E8A-4147-A177-3AD203B41FA5}">
                      <a16:colId xmlns:a16="http://schemas.microsoft.com/office/drawing/2014/main" val="3725357130"/>
                    </a:ext>
                  </a:extLst>
                </a:gridCol>
                <a:gridCol w="1671916">
                  <a:extLst>
                    <a:ext uri="{9D8B030D-6E8A-4147-A177-3AD203B41FA5}">
                      <a16:colId xmlns:a16="http://schemas.microsoft.com/office/drawing/2014/main" val="2652510508"/>
                    </a:ext>
                  </a:extLst>
                </a:gridCol>
              </a:tblGrid>
              <a:tr h="689504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endParaRPr lang="en-IN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57610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Network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accuracy, reduced false positives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75762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IDS for Mobile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+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detection of unknown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61805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Network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&amp;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and faster intrusion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68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049" y="1371600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53452"/>
            <a:ext cx="6300000" cy="3209148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cyber threats targeting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unknown attacks.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network traffic make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accurate, intelligent, and real-time attack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7" name="Card 1017"/>
          <p:cNvSpPr/>
          <p:nvPr/>
        </p:nvSpPr>
        <p:spPr>
          <a:xfrm>
            <a:off x="7300000" y="2353452"/>
            <a:ext cx="2031420" cy="1535994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18" name="Icon 10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160" y="2490612"/>
            <a:ext cx="480000" cy="480000"/>
          </a:xfrm>
          <a:prstGeom prst="ellipse">
            <a:avLst/>
          </a:prstGeom>
        </p:spPr>
      </p:pic>
      <p:sp>
        <p:nvSpPr>
          <p:cNvPr id="1019" name="CardText 1019"/>
          <p:cNvSpPr txBox="1"/>
          <p:nvPr/>
        </p:nvSpPr>
        <p:spPr>
          <a:xfrm>
            <a:off x="7437160" y="3016332"/>
            <a:ext cx="1757100" cy="7359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Growing Threats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cyberattacks on mobile networks</a:t>
            </a:r>
          </a:p>
        </p:txBody>
      </p:sp>
      <p:sp>
        <p:nvSpPr>
          <p:cNvPr id="1020" name="Card 1020"/>
          <p:cNvSpPr/>
          <p:nvPr/>
        </p:nvSpPr>
        <p:spPr>
          <a:xfrm>
            <a:off x="9468580" y="2353452"/>
            <a:ext cx="2031420" cy="1535994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21" name="Icon 10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40" y="2490612"/>
            <a:ext cx="480000" cy="480000"/>
          </a:xfrm>
          <a:prstGeom prst="ellipse">
            <a:avLst/>
          </a:prstGeom>
        </p:spPr>
      </p:pic>
      <p:sp>
        <p:nvSpPr>
          <p:cNvPr id="1022" name="CardText 1022"/>
          <p:cNvSpPr txBox="1"/>
          <p:nvPr/>
        </p:nvSpPr>
        <p:spPr>
          <a:xfrm>
            <a:off x="9605740" y="3016332"/>
            <a:ext cx="1757100" cy="7359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Accuracy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miss unknown attacks</a:t>
            </a:r>
          </a:p>
        </p:txBody>
      </p:sp>
      <p:sp>
        <p:nvSpPr>
          <p:cNvPr id="1023" name="Card 1023"/>
          <p:cNvSpPr/>
          <p:nvPr/>
        </p:nvSpPr>
        <p:spPr>
          <a:xfrm>
            <a:off x="7300000" y="4026606"/>
            <a:ext cx="2031420" cy="1535994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24" name="Icon 10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160" y="4163766"/>
            <a:ext cx="480000" cy="480000"/>
          </a:xfrm>
          <a:prstGeom prst="ellipse">
            <a:avLst/>
          </a:prstGeom>
        </p:spPr>
      </p:pic>
      <p:sp>
        <p:nvSpPr>
          <p:cNvPr id="1025" name="CardText 1025"/>
          <p:cNvSpPr txBox="1"/>
          <p:nvPr/>
        </p:nvSpPr>
        <p:spPr>
          <a:xfrm>
            <a:off x="7437160" y="4689486"/>
            <a:ext cx="1757100" cy="7359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Challenge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volume slows detection</a:t>
            </a:r>
          </a:p>
        </p:txBody>
      </p:sp>
      <p:sp>
        <p:nvSpPr>
          <p:cNvPr id="1026" name="Card 1026"/>
          <p:cNvSpPr/>
          <p:nvPr/>
        </p:nvSpPr>
        <p:spPr>
          <a:xfrm>
            <a:off x="9468580" y="4026606"/>
            <a:ext cx="2031420" cy="1535994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27" name="Icon 10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40" y="4163766"/>
            <a:ext cx="480000" cy="480000"/>
          </a:xfrm>
          <a:prstGeom prst="ellipse">
            <a:avLst/>
          </a:prstGeom>
        </p:spPr>
      </p:pic>
      <p:sp>
        <p:nvSpPr>
          <p:cNvPr id="1028" name="CardText 1028"/>
          <p:cNvSpPr txBox="1"/>
          <p:nvPr/>
        </p:nvSpPr>
        <p:spPr>
          <a:xfrm>
            <a:off x="9605740" y="4689486"/>
            <a:ext cx="1757100" cy="7359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Smarter IDS Needed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intelligent, adaptive solution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6825" y="1295400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762000" y="2667000"/>
            <a:ext cx="63000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Intrusion Detection Systems (IDS)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widely used.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known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predefined attack signatures.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detection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new or zero-day attacks.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and false 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 in mobile networks.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adaptability to evolving cyber threats.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Card 1029"/>
          <p:cNvSpPr/>
          <p:nvPr/>
        </p:nvSpPr>
        <p:spPr>
          <a:xfrm>
            <a:off x="7350000" y="2667000"/>
            <a:ext cx="2006420" cy="1455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30" name="Icon 10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160" y="2804160"/>
            <a:ext cx="480000" cy="480000"/>
          </a:xfrm>
          <a:prstGeom prst="ellipse">
            <a:avLst/>
          </a:prstGeom>
        </p:spPr>
      </p:pic>
      <p:sp>
        <p:nvSpPr>
          <p:cNvPr id="1031" name="CardText 1031"/>
          <p:cNvSpPr txBox="1"/>
          <p:nvPr/>
        </p:nvSpPr>
        <p:spPr>
          <a:xfrm>
            <a:off x="7487160" y="3329880"/>
            <a:ext cx="17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Matches known attack patterns</a:t>
            </a:r>
          </a:p>
        </p:txBody>
      </p:sp>
      <p:sp>
        <p:nvSpPr>
          <p:cNvPr id="1032" name="Card 1032"/>
          <p:cNvSpPr/>
          <p:nvPr/>
        </p:nvSpPr>
        <p:spPr>
          <a:xfrm>
            <a:off x="9493580" y="2667000"/>
            <a:ext cx="2006420" cy="1455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33" name="Icon 10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740" y="2804160"/>
            <a:ext cx="480000" cy="480000"/>
          </a:xfrm>
          <a:prstGeom prst="ellipse">
            <a:avLst/>
          </a:prstGeom>
        </p:spPr>
      </p:pic>
      <p:sp>
        <p:nvSpPr>
          <p:cNvPr id="1034" name="CardText 1034"/>
          <p:cNvSpPr txBox="1"/>
          <p:nvPr/>
        </p:nvSpPr>
        <p:spPr>
          <a:xfrm>
            <a:off x="9630740" y="3329880"/>
            <a:ext cx="17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Attacks Caught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for previously seen threats</a:t>
            </a:r>
          </a:p>
        </p:txBody>
      </p:sp>
      <p:sp>
        <p:nvSpPr>
          <p:cNvPr id="1035" name="Card 1035"/>
          <p:cNvSpPr/>
          <p:nvPr/>
        </p:nvSpPr>
        <p:spPr>
          <a:xfrm>
            <a:off x="7350000" y="4259580"/>
            <a:ext cx="2006420" cy="1455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36" name="Icon 10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160" y="4396740"/>
            <a:ext cx="480000" cy="480000"/>
          </a:xfrm>
          <a:prstGeom prst="ellipse">
            <a:avLst/>
          </a:prstGeom>
        </p:spPr>
      </p:pic>
      <p:sp>
        <p:nvSpPr>
          <p:cNvPr id="1037" name="CardText 1037"/>
          <p:cNvSpPr txBox="1"/>
          <p:nvPr/>
        </p:nvSpPr>
        <p:spPr>
          <a:xfrm>
            <a:off x="7487160" y="4922460"/>
            <a:ext cx="17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Zero-Day Blind Spot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Misses new, unseen attacks</a:t>
            </a:r>
          </a:p>
        </p:txBody>
      </p:sp>
      <p:sp>
        <p:nvSpPr>
          <p:cNvPr id="1038" name="Card 1038"/>
          <p:cNvSpPr/>
          <p:nvPr/>
        </p:nvSpPr>
        <p:spPr>
          <a:xfrm>
            <a:off x="9493580" y="4259580"/>
            <a:ext cx="2006420" cy="1455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39" name="Icon 10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0740" y="4396740"/>
            <a:ext cx="480000" cy="480000"/>
          </a:xfrm>
          <a:prstGeom prst="ellipse">
            <a:avLst/>
          </a:prstGeom>
        </p:spPr>
      </p:pic>
      <p:sp>
        <p:nvSpPr>
          <p:cNvPr id="1040" name="CardText 1040"/>
          <p:cNvSpPr txBox="1"/>
          <p:nvPr/>
        </p:nvSpPr>
        <p:spPr>
          <a:xfrm>
            <a:off x="9630740" y="4922460"/>
            <a:ext cx="17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False Alarms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false positives/negatives</a:t>
            </a:r>
          </a:p>
        </p:txBody>
      </p:sp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23348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604935" y="2667000"/>
            <a:ext cx="63000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mobile network traffic for effective feature learning.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and unknown cyber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 accuracy.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intrusion alerts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network security.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performance while reducing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and false negatives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Card 1041"/>
          <p:cNvSpPr/>
          <p:nvPr/>
        </p:nvSpPr>
        <p:spPr>
          <a:xfrm>
            <a:off x="7150000" y="2667000"/>
            <a:ext cx="2106420" cy="1455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42" name="Icon 10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160" y="2804160"/>
            <a:ext cx="480000" cy="480000"/>
          </a:xfrm>
          <a:prstGeom prst="ellipse">
            <a:avLst/>
          </a:prstGeom>
        </p:spPr>
      </p:pic>
      <p:sp>
        <p:nvSpPr>
          <p:cNvPr id="1043" name="CardText 1043"/>
          <p:cNvSpPr txBox="1"/>
          <p:nvPr/>
        </p:nvSpPr>
        <p:spPr>
          <a:xfrm>
            <a:off x="7287160" y="3329880"/>
            <a:ext cx="18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normalized traffic data</a:t>
            </a:r>
          </a:p>
        </p:txBody>
      </p:sp>
      <p:sp>
        <p:nvSpPr>
          <p:cNvPr id="1044" name="Card 1044"/>
          <p:cNvSpPr/>
          <p:nvPr/>
        </p:nvSpPr>
        <p:spPr>
          <a:xfrm>
            <a:off x="9393580" y="2667000"/>
            <a:ext cx="2106420" cy="1455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45" name="Icon 10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740" y="2804160"/>
            <a:ext cx="480000" cy="480000"/>
          </a:xfrm>
          <a:prstGeom prst="ellipse">
            <a:avLst/>
          </a:prstGeom>
        </p:spPr>
      </p:pic>
      <p:sp>
        <p:nvSpPr>
          <p:cNvPr id="1046" name="CardText 1046"/>
          <p:cNvSpPr txBox="1"/>
          <p:nvPr/>
        </p:nvSpPr>
        <p:spPr>
          <a:xfrm>
            <a:off x="9530740" y="3329880"/>
            <a:ext cx="18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DBN Learning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vs. malicious patterns</a:t>
            </a:r>
          </a:p>
        </p:txBody>
      </p:sp>
      <p:sp>
        <p:nvSpPr>
          <p:cNvPr id="1047" name="Card 1047"/>
          <p:cNvSpPr/>
          <p:nvPr/>
        </p:nvSpPr>
        <p:spPr>
          <a:xfrm>
            <a:off x="7150000" y="4259580"/>
            <a:ext cx="2106420" cy="1455420"/>
          </a:xfrm>
          <a:prstGeom prst="roundRect">
            <a:avLst>
              <a:gd name="adj" fmla="val 7000"/>
            </a:avLst>
          </a:prstGeom>
          <a:solidFill>
            <a:srgbClr val="F5F0E8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48" name="Icon 10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160" y="4396740"/>
            <a:ext cx="480000" cy="480000"/>
          </a:xfrm>
          <a:prstGeom prst="ellipse">
            <a:avLst/>
          </a:prstGeom>
        </p:spPr>
      </p:pic>
      <p:sp>
        <p:nvSpPr>
          <p:cNvPr id="1049" name="CardText 1049"/>
          <p:cNvSpPr txBox="1"/>
          <p:nvPr/>
        </p:nvSpPr>
        <p:spPr>
          <a:xfrm>
            <a:off x="7287160" y="4922460"/>
            <a:ext cx="18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Classifies known &amp; unknown attacks</a:t>
            </a:r>
          </a:p>
        </p:txBody>
      </p:sp>
      <p:sp>
        <p:nvSpPr>
          <p:cNvPr id="1050" name="Card 1050"/>
          <p:cNvSpPr/>
          <p:nvPr/>
        </p:nvSpPr>
        <p:spPr>
          <a:xfrm>
            <a:off x="9393580" y="4259580"/>
            <a:ext cx="2106420" cy="1455420"/>
          </a:xfrm>
          <a:prstGeom prst="roundRect">
            <a:avLst>
              <a:gd name="adj" fmla="val 7000"/>
            </a:avLst>
          </a:prstGeom>
          <a:solidFill>
            <a:srgbClr val="EAEEF6"/>
          </a:solidFill>
          <a:ln>
            <a:noFill/>
          </a:ln>
        </p:spPr>
        <p:txBody>
          <a:bodyPr lIns="0" tIns="0" rIns="0" bIns="0" anchor="t"/>
          <a:lstStyle/>
          <a:p>
            <a:pPr>
              <a:defRPr/>
            </a:pPr>
            <a:endParaRPr/>
          </a:p>
        </p:txBody>
      </p:sp>
      <p:pic>
        <p:nvPicPr>
          <p:cNvPr id="1051" name="Icon 10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0740" y="4396740"/>
            <a:ext cx="480000" cy="480000"/>
          </a:xfrm>
          <a:prstGeom prst="ellipse">
            <a:avLst/>
          </a:prstGeom>
        </p:spPr>
      </p:pic>
      <p:sp>
        <p:nvSpPr>
          <p:cNvPr id="1052" name="CardText 1052"/>
          <p:cNvSpPr txBox="1"/>
          <p:nvPr/>
        </p:nvSpPr>
        <p:spPr>
          <a:xfrm>
            <a:off x="9530740" y="4922460"/>
            <a:ext cx="1832100" cy="65538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</a:p>
          <a:p>
            <a:pPr>
              <a:spcBef>
                <a:spcPts val="200"/>
              </a:spcBef>
              <a:defRPr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notification on threats</a:t>
            </a:r>
          </a:p>
        </p:txBody>
      </p:sp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32BB9A-54B9-6086-AB37-676F29B438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66800"/>
            <a:ext cx="10287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Title 1"/>
          <p:cNvSpPr>
            <a:spLocks noGrp="1"/>
          </p:cNvSpPr>
          <p:nvPr>
            <p:ph type="title"/>
          </p:nvPr>
        </p:nvSpPr>
        <p:spPr>
          <a:xfrm>
            <a:off x="1600200" y="103505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System Architecture – Detailed Flow</a:t>
            </a:r>
          </a:p>
        </p:txBody>
      </p:sp>
      <p:pic>
        <p:nvPicPr>
          <p:cNvPr id="1001" name="Icon 1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" y="2150000"/>
            <a:ext cx="950000" cy="950000"/>
          </a:xfrm>
          <a:prstGeom prst="ellipse">
            <a:avLst/>
          </a:prstGeom>
        </p:spPr>
      </p:pic>
      <p:sp>
        <p:nvSpPr>
          <p:cNvPr id="1002" name="StageText 1002"/>
          <p:cNvSpPr txBox="1"/>
          <p:nvPr/>
        </p:nvSpPr>
        <p:spPr>
          <a:xfrm>
            <a:off x="45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Network Traffic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traffic capture</a:t>
            </a:r>
          </a:p>
        </p:txBody>
      </p:sp>
      <p:pic>
        <p:nvPicPr>
          <p:cNvPr id="1003" name="Icon 10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000" y="2150000"/>
            <a:ext cx="950000" cy="950000"/>
          </a:xfrm>
          <a:prstGeom prst="ellipse">
            <a:avLst/>
          </a:prstGeom>
        </p:spPr>
      </p:pic>
      <p:sp>
        <p:nvSpPr>
          <p:cNvPr id="1004" name="StageText 1004"/>
          <p:cNvSpPr txBox="1"/>
          <p:nvPr/>
        </p:nvSpPr>
        <p:spPr>
          <a:xfrm>
            <a:off x="242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&amp; normalize</a:t>
            </a:r>
          </a:p>
        </p:txBody>
      </p:sp>
      <p:pic>
        <p:nvPicPr>
          <p:cNvPr id="1005" name="Icon 10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000" y="2150000"/>
            <a:ext cx="950000" cy="950000"/>
          </a:xfrm>
          <a:prstGeom prst="ellipse">
            <a:avLst/>
          </a:prstGeom>
        </p:spPr>
      </p:pic>
      <p:sp>
        <p:nvSpPr>
          <p:cNvPr id="1006" name="StageText 1006"/>
          <p:cNvSpPr txBox="1"/>
          <p:nvPr/>
        </p:nvSpPr>
        <p:spPr>
          <a:xfrm>
            <a:off x="439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key attributes</a:t>
            </a:r>
          </a:p>
        </p:txBody>
      </p:sp>
      <p:pic>
        <p:nvPicPr>
          <p:cNvPr id="1007" name="Icon 10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000" y="2150000"/>
            <a:ext cx="950000" cy="950000"/>
          </a:xfrm>
          <a:prstGeom prst="ellipse">
            <a:avLst/>
          </a:prstGeom>
        </p:spPr>
      </p:pic>
      <p:sp>
        <p:nvSpPr>
          <p:cNvPr id="1008" name="StageText 1008"/>
          <p:cNvSpPr txBox="1"/>
          <p:nvPr/>
        </p:nvSpPr>
        <p:spPr>
          <a:xfrm>
            <a:off x="636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DBN Model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RBM layers</a:t>
            </a:r>
          </a:p>
        </p:txBody>
      </p:sp>
      <p:pic>
        <p:nvPicPr>
          <p:cNvPr id="1009" name="Icon 10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000" y="2150000"/>
            <a:ext cx="950000" cy="950000"/>
          </a:xfrm>
          <a:prstGeom prst="ellipse">
            <a:avLst/>
          </a:prstGeom>
        </p:spPr>
      </p:pic>
      <p:sp>
        <p:nvSpPr>
          <p:cNvPr id="1010" name="StageText 1010"/>
          <p:cNvSpPr txBox="1"/>
          <p:nvPr/>
        </p:nvSpPr>
        <p:spPr>
          <a:xfrm>
            <a:off x="833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vs. attack</a:t>
            </a:r>
          </a:p>
        </p:txBody>
      </p:sp>
      <p:pic>
        <p:nvPicPr>
          <p:cNvPr id="1011" name="Icon 10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0000" y="2150000"/>
            <a:ext cx="950000" cy="950000"/>
          </a:xfrm>
          <a:prstGeom prst="ellipse">
            <a:avLst/>
          </a:prstGeom>
        </p:spPr>
      </p:pic>
      <p:sp>
        <p:nvSpPr>
          <p:cNvPr id="1012" name="StageText 1012"/>
          <p:cNvSpPr txBox="1"/>
          <p:nvPr/>
        </p:nvSpPr>
        <p:spPr>
          <a:xfrm>
            <a:off x="10300000" y="3160000"/>
            <a:ext cx="15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Notify &amp; log event</a:t>
            </a:r>
          </a:p>
        </p:txBody>
      </p:sp>
      <p:sp>
        <p:nvSpPr>
          <p:cNvPr id="1013" name="Arrow 1013"/>
          <p:cNvSpPr/>
          <p:nvPr/>
        </p:nvSpPr>
        <p:spPr>
          <a:xfrm>
            <a:off x="2000000" y="2495000"/>
            <a:ext cx="420000" cy="26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" name="Arrow 1014"/>
          <p:cNvSpPr/>
          <p:nvPr/>
        </p:nvSpPr>
        <p:spPr>
          <a:xfrm>
            <a:off x="3970000" y="2495000"/>
            <a:ext cx="420000" cy="26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" name="Arrow 1015"/>
          <p:cNvSpPr/>
          <p:nvPr/>
        </p:nvSpPr>
        <p:spPr>
          <a:xfrm>
            <a:off x="5940000" y="2495000"/>
            <a:ext cx="420000" cy="26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" name="Arrow 1016"/>
          <p:cNvSpPr/>
          <p:nvPr/>
        </p:nvSpPr>
        <p:spPr>
          <a:xfrm>
            <a:off x="7910000" y="2495000"/>
            <a:ext cx="420000" cy="26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" name="Arrow 1017"/>
          <p:cNvSpPr/>
          <p:nvPr/>
        </p:nvSpPr>
        <p:spPr>
          <a:xfrm>
            <a:off x="9880000" y="2495000"/>
            <a:ext cx="420000" cy="26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" name="SectionLabel"/>
          <p:cNvSpPr txBox="1"/>
          <p:nvPr/>
        </p:nvSpPr>
        <p:spPr>
          <a:xfrm>
            <a:off x="450000" y="4550000"/>
            <a:ext cx="11292000" cy="45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the DBN – Layer-Wise Training</a:t>
            </a:r>
          </a:p>
        </p:txBody>
      </p:sp>
      <p:pic>
        <p:nvPicPr>
          <p:cNvPr id="1018" name="Icon 10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00" y="5150000"/>
            <a:ext cx="780000" cy="780000"/>
          </a:xfrm>
          <a:prstGeom prst="ellipse">
            <a:avLst/>
          </a:prstGeom>
        </p:spPr>
      </p:pic>
      <p:sp>
        <p:nvSpPr>
          <p:cNvPr id="1019" name="StageText 1019"/>
          <p:cNvSpPr txBox="1"/>
          <p:nvPr/>
        </p:nvSpPr>
        <p:spPr>
          <a:xfrm>
            <a:off x="450000" y="5990000"/>
            <a:ext cx="24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RBM Layer 1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low-level traffic features</a:t>
            </a:r>
          </a:p>
        </p:txBody>
      </p:sp>
      <p:pic>
        <p:nvPicPr>
          <p:cNvPr id="1020" name="Icon 10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000" y="5150000"/>
            <a:ext cx="780000" cy="780000"/>
          </a:xfrm>
          <a:prstGeom prst="ellipse">
            <a:avLst/>
          </a:prstGeom>
        </p:spPr>
      </p:pic>
      <p:sp>
        <p:nvSpPr>
          <p:cNvPr id="1021" name="StageText 1021"/>
          <p:cNvSpPr txBox="1"/>
          <p:nvPr/>
        </p:nvSpPr>
        <p:spPr>
          <a:xfrm>
            <a:off x="3160000" y="5990000"/>
            <a:ext cx="24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RBM Layer 2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mid-level representations</a:t>
            </a:r>
          </a:p>
        </p:txBody>
      </p:sp>
      <p:pic>
        <p:nvPicPr>
          <p:cNvPr id="1022" name="Icon 10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000" y="5150000"/>
            <a:ext cx="780000" cy="780000"/>
          </a:xfrm>
          <a:prstGeom prst="ellipse">
            <a:avLst/>
          </a:prstGeom>
        </p:spPr>
      </p:pic>
      <p:sp>
        <p:nvSpPr>
          <p:cNvPr id="1023" name="StageText 1023"/>
          <p:cNvSpPr txBox="1"/>
          <p:nvPr/>
        </p:nvSpPr>
        <p:spPr>
          <a:xfrm>
            <a:off x="5870000" y="5990000"/>
            <a:ext cx="24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RBM Layer 3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high-level abstractions</a:t>
            </a:r>
          </a:p>
        </p:txBody>
      </p:sp>
      <p:pic>
        <p:nvPicPr>
          <p:cNvPr id="1024" name="Icon 10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5000" y="5150000"/>
            <a:ext cx="780000" cy="780000"/>
          </a:xfrm>
          <a:prstGeom prst="ellipse">
            <a:avLst/>
          </a:prstGeom>
        </p:spPr>
      </p:pic>
      <p:sp>
        <p:nvSpPr>
          <p:cNvPr id="1025" name="StageText 1025"/>
          <p:cNvSpPr txBox="1"/>
          <p:nvPr/>
        </p:nvSpPr>
        <p:spPr>
          <a:xfrm>
            <a:off x="8580000" y="5990000"/>
            <a:ext cx="2450000" cy="9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5000"/>
              </a:lnSpc>
              <a:defRPr/>
            </a:pPr>
            <a:r>
              <a:rPr lang="en-US" sz="13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 Output</a:t>
            </a:r>
          </a:p>
          <a:p>
            <a:pPr algn="ctr">
              <a:spcBef>
                <a:spcPts val="150"/>
              </a:spcBef>
              <a:defRPr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normal / attack decision</a:t>
            </a:r>
          </a:p>
        </p:txBody>
      </p:sp>
      <p:sp>
        <p:nvSpPr>
          <p:cNvPr id="1026" name="Arrow 1026"/>
          <p:cNvSpPr/>
          <p:nvPr/>
        </p:nvSpPr>
        <p:spPr>
          <a:xfrm>
            <a:off x="2900000" y="5430000"/>
            <a:ext cx="260000" cy="22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" name="Arrow 1027"/>
          <p:cNvSpPr/>
          <p:nvPr/>
        </p:nvSpPr>
        <p:spPr>
          <a:xfrm>
            <a:off x="5610000" y="5430000"/>
            <a:ext cx="260000" cy="22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" name="Arrow 1028"/>
          <p:cNvSpPr/>
          <p:nvPr/>
        </p:nvSpPr>
        <p:spPr>
          <a:xfrm>
            <a:off x="8320000" y="5430000"/>
            <a:ext cx="260000" cy="22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073" y="334097"/>
            <a:ext cx="749935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071" y="275101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4578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1219200" y="2317602"/>
            <a:ext cx="9220200" cy="3028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SDG  9?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project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(Deep Learning)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strengthen digital infrastructure and improve cybersecurity in mobile networks.</a:t>
            </a: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25" y="1600200"/>
            <a:ext cx="749935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260985" y="2480388"/>
            <a:ext cx="11702415" cy="4022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mobile network traffic dataset (e.g.,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NSL-KDD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by cleaning, normalizing, and selecting relevant features.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normal and malicious traffic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intrusions, then generate real-time security alerts.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Deep Belief Network (DBN)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54968"/>
            <a:ext cx="8507730" cy="86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1: Data Acquisition &amp; 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34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  <a:defRPr/>
            </a:pPr>
            <a:r>
              <a:rPr lang="en-US" sz="19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prepare mobile network traffic data so it is clean, consistent, and ready to train the Deep Belief Network.</a:t>
            </a:r>
          </a:p>
          <a:p>
            <a:pPr marL="0" indent="0">
              <a:lnSpc>
                <a:spcPct val="110000"/>
              </a:lnSpc>
              <a:spcBef>
                <a:spcPts val="80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TASKS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network traffic data from NSL-KDD / CICIDS2017 datasets and mobile traffic logs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data: handle missing values, remove duplicates and noisy records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 numeric features and encode categorical attributes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training, validation, and test sets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1: Data Acquisition &amp; Preprocessing – Techniques &amp;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21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Min-Max normalization and Z-score standardization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for categorical attributes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sampling for a balanced train-test split</a:t>
            </a:r>
          </a:p>
        </p:txBody>
      </p:sp>
      <p:sp>
        <p:nvSpPr>
          <p:cNvPr id="101" name="Tools Card"/>
          <p:cNvSpPr/>
          <p:nvPr/>
        </p:nvSpPr>
        <p:spPr>
          <a:xfrm>
            <a:off x="6858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NumPy, Scikit-learn</a:t>
            </a:r>
          </a:p>
        </p:txBody>
      </p:sp>
      <p:sp>
        <p:nvSpPr>
          <p:cNvPr id="102" name="Output Card"/>
          <p:cNvSpPr/>
          <p:nvPr/>
        </p:nvSpPr>
        <p:spPr>
          <a:xfrm>
            <a:off x="61722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clean, structured dataset ready for 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2: Feature Extraction &amp;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34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  <a:defRPr/>
            </a:pPr>
            <a:r>
              <a:rPr lang="en-US" sz="19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relevant traffic attributes that best distinguish normal behaviour from malicious activity.</a:t>
            </a:r>
          </a:p>
          <a:p>
            <a:pPr marL="0" indent="0">
              <a:lnSpc>
                <a:spcPct val="110000"/>
              </a:lnSpc>
              <a:spcBef>
                <a:spcPts val="80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TASKS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statistical and flow-based features such as packet size, duration, and protocol type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dimensionality by removing redundant or correlated attributes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features by their relevance to attack detection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feature set for the DBN input layer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2: Feature Extraction &amp; Selection – Techniques &amp;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21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 for dimensionality reduction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Correlation-based feature selection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and Chi-square ranking</a:t>
            </a:r>
          </a:p>
        </p:txBody>
      </p:sp>
      <p:sp>
        <p:nvSpPr>
          <p:cNvPr id="101" name="Tools Card"/>
          <p:cNvSpPr/>
          <p:nvPr/>
        </p:nvSpPr>
        <p:spPr>
          <a:xfrm>
            <a:off x="6858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Pandas, NumPy</a:t>
            </a:r>
          </a:p>
        </p:txBody>
      </p:sp>
      <p:sp>
        <p:nvSpPr>
          <p:cNvPr id="102" name="Output Card"/>
          <p:cNvSpPr/>
          <p:nvPr/>
        </p:nvSpPr>
        <p:spPr>
          <a:xfrm>
            <a:off x="61722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Optimized, low-dimensional feature vectors for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3: DBN Architecture Design &amp;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34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  <a:defRPr/>
            </a:pPr>
            <a:r>
              <a:rPr lang="en-US" sz="19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train a Deep Belief Network that learns the underlying patterns of normal and malicious network traffic.</a:t>
            </a:r>
          </a:p>
          <a:p>
            <a:pPr marL="0" indent="0">
              <a:lnSpc>
                <a:spcPct val="110000"/>
              </a:lnSpc>
              <a:spcBef>
                <a:spcPts val="80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TASKS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multiple Restricted Boltzmann Machines (RBMs) to form the DBN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greedy layer-wise unsupervised pre-training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 the network end-to-end with supervised backpropagation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 hyperparameters: number of layers, learning rate, and epochs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3: DBN Architecture Design &amp; Training – Techniques &amp;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21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Contrastive Divergence for RBM pre-training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with a softmax output layer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 and early stopping to prevent overfitting</a:t>
            </a:r>
          </a:p>
        </p:txBody>
      </p:sp>
      <p:sp>
        <p:nvSpPr>
          <p:cNvPr id="101" name="Tools Card"/>
          <p:cNvSpPr/>
          <p:nvPr/>
        </p:nvSpPr>
        <p:spPr>
          <a:xfrm>
            <a:off x="6858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Keras, Python</a:t>
            </a:r>
          </a:p>
        </p:txBody>
      </p:sp>
      <p:sp>
        <p:nvSpPr>
          <p:cNvPr id="102" name="Output Card"/>
          <p:cNvSpPr/>
          <p:nvPr/>
        </p:nvSpPr>
        <p:spPr>
          <a:xfrm>
            <a:off x="61722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trained DBN model ready for intrusion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4: Intrusion Detection &amp;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34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  <a:defRPr/>
            </a:pPr>
            <a:r>
              <a:rPr lang="en-US" sz="19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DBN to classify live network traffic as normal or malicious in real time.</a:t>
            </a:r>
          </a:p>
          <a:p>
            <a:pPr marL="0" indent="0">
              <a:lnSpc>
                <a:spcPct val="110000"/>
              </a:lnSpc>
              <a:spcBef>
                <a:spcPts val="80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TASKS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 preprocessed traffic samples into the trained DBN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traffic into normal or attack categories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specific attack types such as DoS, Probe, R2L, and U2R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classification confidence scores for each prediction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4: Intrusion Detection &amp; Classification – Techniques &amp;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21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Softmax-based multi-class classification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 to study error patterns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tuning to reduce false alarms</a:t>
            </a:r>
          </a:p>
        </p:txBody>
      </p:sp>
      <p:sp>
        <p:nvSpPr>
          <p:cNvPr id="101" name="Tools Card"/>
          <p:cNvSpPr/>
          <p:nvPr/>
        </p:nvSpPr>
        <p:spPr>
          <a:xfrm>
            <a:off x="6858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Keras, Scikit-learn metrics</a:t>
            </a:r>
          </a:p>
        </p:txBody>
      </p:sp>
      <p:sp>
        <p:nvSpPr>
          <p:cNvPr id="102" name="Output Card"/>
          <p:cNvSpPr/>
          <p:nvPr/>
        </p:nvSpPr>
        <p:spPr>
          <a:xfrm>
            <a:off x="61722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Real-time, labelled traffic classification results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5: Real-Time Alert Generation &amp;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34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lnSpc>
                <a:spcPct val="130000"/>
              </a:lnSpc>
              <a:spcBef>
                <a:spcPts val="200"/>
              </a:spcBef>
              <a:buNone/>
              <a:defRPr/>
            </a:pPr>
            <a:r>
              <a:rPr lang="en-US" sz="19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detections into real-time security alerts and rigorously evaluate the system's overall performance.</a:t>
            </a:r>
          </a:p>
          <a:p>
            <a:pPr marL="0" indent="0">
              <a:lnSpc>
                <a:spcPct val="110000"/>
              </a:lnSpc>
              <a:spcBef>
                <a:spcPts val="80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TASKS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real-time alerts whenever malicious traffic is detected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and report intrusion events for network administrators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standard performance metrics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results against existing intrusion detection approaches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838200"/>
            <a:ext cx="956310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5: Real-Time Alert Generation &amp; Evaluation – Techniques &amp;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05116"/>
            <a:ext cx="1200000" cy="1200000"/>
          </a:xfrm>
          <a:prstGeom prst="ellipse">
            <a:avLst/>
          </a:prstGeom>
        </p:spPr>
      </p:pic>
      <p:sp>
        <p:nvSpPr>
          <p:cNvPr id="103" name="Module Tag"/>
          <p:cNvSpPr/>
          <p:nvPr/>
        </p:nvSpPr>
        <p:spPr>
          <a:xfrm>
            <a:off x="685800" y="2996556"/>
            <a:ext cx="1200000" cy="36576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defRPr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00300" y="1705116"/>
            <a:ext cx="9296400" cy="21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365760" indent="-283464">
              <a:lnSpc>
                <a:spcPct val="115000"/>
              </a:lnSpc>
              <a:spcBef>
                <a:spcPts val="1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 evaluation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 and AUC analysis</a:t>
            </a:r>
          </a:p>
          <a:p>
            <a:pPr marL="365760" indent="-283464">
              <a:lnSpc>
                <a:spcPct val="115000"/>
              </a:lnSpc>
              <a:spcBef>
                <a:spcPts val="250"/>
              </a:spcBef>
              <a:buFont typeface="Wingdings 2"/>
              <a:buChar char=""/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 dashboard and notification system</a:t>
            </a:r>
          </a:p>
        </p:txBody>
      </p:sp>
      <p:sp>
        <p:nvSpPr>
          <p:cNvPr id="101" name="Tools Card"/>
          <p:cNvSpPr/>
          <p:nvPr/>
        </p:nvSpPr>
        <p:spPr>
          <a:xfrm>
            <a:off x="6858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Matplotlib / Seaborn, Flask</a:t>
            </a:r>
          </a:p>
        </p:txBody>
      </p:sp>
      <p:sp>
        <p:nvSpPr>
          <p:cNvPr id="102" name="Output Card"/>
          <p:cNvSpPr/>
          <p:nvPr/>
        </p:nvSpPr>
        <p:spPr>
          <a:xfrm>
            <a:off x="6172200" y="4400550"/>
            <a:ext cx="5334000" cy="1450000"/>
          </a:xfrm>
          <a:prstGeom prst="roundRect">
            <a:avLst>
              <a:gd name="adj" fmla="val 6000"/>
            </a:avLst>
          </a:prstGeom>
          <a:solidFill>
            <a:srgbClr val="EAEEF6"/>
          </a:solidFill>
          <a:ln>
            <a:noFill/>
          </a:ln>
        </p:spPr>
        <p:txBody>
          <a:bodyPr lIns="228600" tIns="137160" rIns="228600" bIns="137160" anchor="t"/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spcBef>
                <a:spcPts val="300"/>
              </a:spcBef>
              <a:defRPr/>
            </a:pPr>
            <a:r>
              <a:rPr lang="en-US" sz="17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validated, deployable intrusion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291" y="1177163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533400" y="2203418"/>
            <a:ext cx="1112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 security.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both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and unknown cyber attacks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deep learning.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network security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intrusion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alert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potential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Deep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accurate, reliable, and scalable cybersecurity solutions for mobile networks.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409" y="118187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381000" y="1974040"/>
            <a:ext cx="11353800" cy="4274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Goodfellow, Yoshua Bengio, and Aaron Courville,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Press, Cambridge, Massachusetts,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Edition, 2016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Deep Learning fundamentals, Neural Networks, Deep Belief Networks (DBN), model training, and optimization.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Behrouz A. Forouzan,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5th Edition, 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.Mobile communication networks, network protocols, packet transmission, and network architecture.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Faheem Syeed Masoodi and Alwi Bamhdi (Editors),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Intrusion Detection: Techniques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Wiley &amp; Sons,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Edition, 2025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.Deep Learning, Intrusion Detection Systems (IDS), Wireless Networks, IoT Security, Zero-Day Attack Detection.</a:t>
            </a:r>
          </a:p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Eoffrey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Hinton, Simon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Osindero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Yee-Whye Teh,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 Learning Algorithm for Deep Belief Nets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Computation, Vol. 18, No. 7, 2006, pp. 1527–1554.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Aheem Syeed Masoodi and Alwi Bamhdi (Eds.),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Intrusion Detection: Techniques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Wiley, 1st Edition, 2025.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97323-C313-139E-50F4-87F8AF5F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6D162-921C-F9E5-2687-1141E0CF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6094708-7BCD-F585-EA3D-6FF0DF92F04A}"/>
              </a:ext>
            </a:extLst>
          </p:cNvPr>
          <p:cNvSpPr txBox="1"/>
          <p:nvPr/>
        </p:nvSpPr>
        <p:spPr>
          <a:xfrm>
            <a:off x="1572358" y="2644170"/>
            <a:ext cx="90472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65999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5963</TotalTime>
  <Words>1709</Words>
  <Application>Microsoft Office PowerPoint</Application>
  <PresentationFormat>Widescreen</PresentationFormat>
  <Paragraphs>289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宋体</vt:lpstr>
      <vt:lpstr>Algerian</vt:lpstr>
      <vt:lpstr>Arial</vt:lpstr>
      <vt:lpstr>AvantGarde</vt:lpstr>
      <vt:lpstr>Calibri</vt:lpstr>
      <vt:lpstr>Calibri Light</vt:lpstr>
      <vt:lpstr>Times New Roman</vt:lpstr>
      <vt:lpstr>Wingdings 2</vt:lpstr>
      <vt:lpstr>Office 2013 - 2022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PowerPoint Presentation</vt:lpstr>
      <vt:lpstr>System Architecture – Detailed Flow</vt:lpstr>
      <vt:lpstr>Sustainable Development Goal (SDG) Implementation</vt:lpstr>
      <vt:lpstr>Proposed Methodology and Algorithm  </vt:lpstr>
      <vt:lpstr>Module 1: Data Acquisition &amp; Preprocessing</vt:lpstr>
      <vt:lpstr>Module 1: Data Acquisition &amp; Preprocessing – Techniques &amp; Tools</vt:lpstr>
      <vt:lpstr>Module 2: Feature Extraction &amp; Selection</vt:lpstr>
      <vt:lpstr>Module 2: Feature Extraction &amp; Selection – Techniques &amp; Tools</vt:lpstr>
      <vt:lpstr>Module 3: DBN Architecture Design &amp; Training</vt:lpstr>
      <vt:lpstr>Module 3: DBN Architecture Design &amp; Training – Techniques &amp; Tools</vt:lpstr>
      <vt:lpstr>Module 4: Intrusion Detection &amp; Classification</vt:lpstr>
      <vt:lpstr>Module 4: Intrusion Detection &amp; Classification – Techniques &amp; Tools</vt:lpstr>
      <vt:lpstr>Module 5: Real-Time Alert Generation &amp; Evaluation</vt:lpstr>
      <vt:lpstr>Module 5: Real-Time Alert Generation &amp; Evaluation – Techniques &amp; Tools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Kothakota Rakesh</cp:lastModifiedBy>
  <cp:revision>429</cp:revision>
  <dcterms:created xsi:type="dcterms:W3CDTF">2000-07-06T15:05:59Z</dcterms:created>
  <dcterms:modified xsi:type="dcterms:W3CDTF">2026-08-12T04:55:15Z</dcterms:modified>
</cp:coreProperties>
</file>