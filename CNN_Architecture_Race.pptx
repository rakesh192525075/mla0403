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551B4-DC11-4478-9E38-0C6170E63BB0}" type="datetimeFigureOut"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87F33-A4CA-4370-892B-6AB34BDA7D0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8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B9E3-1D6C-3E54-4550-6425E2EA8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B1D8C-A981-AC0E-0E80-F120EF904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A5E1-65ED-EF89-D631-D620DC12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9336-0CD2-4518-A87B-7D63FCC7521C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3E593-AD1C-5348-FD39-AD50B10A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187BF-94CF-958A-4B0B-3633672C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5C83-F241-4E79-8C7F-7142BE62E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664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FF0C-7C92-D4F1-CBF7-8F7E6BCF1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980" y="280386"/>
            <a:ext cx="11125200" cy="1681986"/>
          </a:xfrm>
        </p:spPr>
        <p:txBody>
          <a:bodyPr>
            <a:normAutofit/>
          </a:bodyPr>
          <a:lstStyle/>
          <a:p>
            <a:r>
              <a:rPr lang="en-IN" sz="9600" b="1" dirty="0">
                <a:solidFill>
                  <a:srgbClr val="FF0000"/>
                </a:solidFill>
                <a:latin typeface="Arial Black" panose="020B0A04020102020204" pitchFamily="34" charset="0"/>
              </a:rPr>
              <a:t>MILA  ACTIVITY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314A6-168B-E49D-7857-07656EB15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38" y="4494667"/>
            <a:ext cx="5326742" cy="1331367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IN" sz="3200" b="1" dirty="0"/>
              <a:t>MLA0403– DEEP LEARNING</a:t>
            </a:r>
            <a:endParaRPr lang="en-IN" sz="3200" b="1" dirty="0">
              <a:ea typeface="Calibri"/>
              <a:cs typeface="Calibri"/>
            </a:endParaRPr>
          </a:p>
          <a:p>
            <a:r>
              <a:rPr lang="en-IN" sz="3200" b="1" dirty="0"/>
              <a:t>Faculty :  </a:t>
            </a:r>
            <a:r>
              <a:rPr lang="en-IN" sz="3200" b="1" dirty="0" err="1"/>
              <a:t>Dr.A.M.ARUL</a:t>
            </a:r>
            <a:r>
              <a:rPr lang="en-IN" sz="3200" b="1" dirty="0"/>
              <a:t> RAJ</a:t>
            </a:r>
            <a:endParaRPr lang="en-IN" sz="3200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E16B2-2D27-FCC4-1343-4F9930295608}"/>
              </a:ext>
            </a:extLst>
          </p:cNvPr>
          <p:cNvSpPr txBox="1"/>
          <p:nvPr/>
        </p:nvSpPr>
        <p:spPr>
          <a:xfrm>
            <a:off x="1924709" y="2710542"/>
            <a:ext cx="8109912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sz="5400">
                <a:solidFill>
                  <a:schemeClr val="accent1"/>
                </a:solidFill>
                <a:latin typeface="Arial Black"/>
                <a:ea typeface="ADLaM Display"/>
                <a:cs typeface="ADLaM Display"/>
              </a:rPr>
              <a:t>Game Based Activity</a:t>
            </a:r>
            <a:endParaRPr lang="en-IN" sz="5400" dirty="0">
              <a:solidFill>
                <a:schemeClr val="accent1"/>
              </a:solidFill>
              <a:latin typeface="Arial Black" panose="020B0A040201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8FB9F-5E77-F0EA-6706-A55B8D0AB667}"/>
              </a:ext>
            </a:extLst>
          </p:cNvPr>
          <p:cNvSpPr txBox="1"/>
          <p:nvPr/>
        </p:nvSpPr>
        <p:spPr>
          <a:xfrm>
            <a:off x="2449286" y="1849747"/>
            <a:ext cx="7592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(Multiple Interactive Learning Algorithm Activity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65FB6-F096-E420-579A-8F0C01CE1AF3}"/>
              </a:ext>
            </a:extLst>
          </p:cNvPr>
          <p:cNvSpPr txBox="1"/>
          <p:nvPr/>
        </p:nvSpPr>
        <p:spPr>
          <a:xfrm>
            <a:off x="4909458" y="3633872"/>
            <a:ext cx="1830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SLOT A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A9206A6-94F4-8F63-A1A3-C9FEF166586B}"/>
              </a:ext>
            </a:extLst>
          </p:cNvPr>
          <p:cNvSpPr txBox="1">
            <a:spLocks/>
          </p:cNvSpPr>
          <p:nvPr/>
        </p:nvSpPr>
        <p:spPr>
          <a:xfrm>
            <a:off x="6551118" y="4098427"/>
            <a:ext cx="5326742" cy="1593246"/>
          </a:xfrm>
        </p:spPr>
        <p:txBody>
          <a:bodyPr lIns="91440" tIns="45720" rIns="91440" bIns="4572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ea typeface="Calibri"/>
                <a:cs typeface="Calibri"/>
              </a:rPr>
              <a:t>Presented By:</a:t>
            </a:r>
          </a:p>
          <a:p>
            <a:r>
              <a:rPr lang="en-IN" sz="3200" b="1" dirty="0">
                <a:ea typeface="Calibri"/>
                <a:cs typeface="Calibri"/>
              </a:rPr>
              <a:t>Shaik Rafiqhuddin-192525129</a:t>
            </a:r>
            <a:br>
              <a:rPr lang="en-IN" sz="3200" b="1" dirty="0">
                <a:ea typeface="Calibri"/>
                <a:cs typeface="Calibri"/>
              </a:rPr>
            </a:br>
            <a:r>
              <a:rPr lang="en-IN" sz="3200" b="1" dirty="0">
                <a:ea typeface="Calibri"/>
                <a:cs typeface="Calibri"/>
              </a:rPr>
              <a:t>Kothakota Rakesh-192525075</a:t>
            </a:r>
          </a:p>
        </p:txBody>
      </p:sp>
    </p:spTree>
    <p:extLst>
      <p:ext uri="{BB962C8B-B14F-4D97-AF65-F5344CB8AC3E}">
        <p14:creationId xmlns:p14="http://schemas.microsoft.com/office/powerpoint/2010/main" val="2552388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778240" y="-914400"/>
            <a:ext cx="5486400" cy="8686800"/>
          </a:xfrm>
          <a:prstGeom prst="rect">
            <a:avLst/>
          </a:prstGeom>
          <a:solidFill>
            <a:srgbClr val="132C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418320" y="2011680"/>
            <a:ext cx="411480" cy="411480"/>
          </a:xfrm>
          <a:prstGeom prst="ellipse">
            <a:avLst/>
          </a:prstGeom>
          <a:solidFill>
            <a:srgbClr val="1E5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41280" y="11887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241280" y="2926080"/>
            <a:ext cx="411480" cy="411480"/>
          </a:xfrm>
          <a:prstGeom prst="ellipse">
            <a:avLst/>
          </a:prstGeom>
          <a:solidFill>
            <a:srgbClr val="1E5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064240" y="169164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064240" y="2560320"/>
            <a:ext cx="411480" cy="411480"/>
          </a:xfrm>
          <a:prstGeom prst="ellipse">
            <a:avLst/>
          </a:prstGeom>
          <a:solidFill>
            <a:srgbClr val="1E5F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887200" y="21031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24060" y="2217420"/>
            <a:ext cx="822960" cy="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24060" y="2217420"/>
            <a:ext cx="822960" cy="91440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447020" y="1394460"/>
            <a:ext cx="822960" cy="50292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447020" y="1394460"/>
            <a:ext cx="822960" cy="137160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447020" y="3131820"/>
            <a:ext cx="822960" cy="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1269980" y="1897380"/>
            <a:ext cx="822960" cy="41148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269980" y="2766060"/>
            <a:ext cx="822960" cy="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19659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 RACE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</a:t>
            </a: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en-US" sz="24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head-to-head look at two landmark convolutional neural network designs — and which one fits your next computer-vision project.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132C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0" descr="icons/brain_FF6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5188077"/>
            <a:ext cx="276606" cy="27660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0080" y="5669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246120" y="5074920"/>
            <a:ext cx="502920" cy="502920"/>
          </a:xfrm>
          <a:prstGeom prst="ellipse">
            <a:avLst/>
          </a:prstGeom>
          <a:solidFill>
            <a:srgbClr val="132C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1" descr="icons/eye_FF6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277" y="5188077"/>
            <a:ext cx="276606" cy="27660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246120" y="5669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computer vision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852160" y="5074920"/>
            <a:ext cx="502920" cy="502920"/>
          </a:xfrm>
          <a:prstGeom prst="ellipse">
            <a:avLst/>
          </a:prstGeom>
          <a:solidFill>
            <a:srgbClr val="132C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2" descr="icons/gauge_FF6B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317" y="5188077"/>
            <a:ext cx="276606" cy="27660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852160" y="5669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visual features automatically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CNN Tick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behind AlexNet and ResNet alike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brain_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1636319"/>
            <a:ext cx="311810" cy="3118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ln w="15875">
            <a:solidFill>
              <a:srgbClr val="1E5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325880" y="14904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17830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"CNN" — a deep learning architecture purpose-built for visual 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79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s/eye_0B1F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2806751"/>
            <a:ext cx="311810" cy="31181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2679192"/>
            <a:ext cx="566928" cy="566928"/>
          </a:xfrm>
          <a:prstGeom prst="ellipse">
            <a:avLst/>
          </a:prstGeom>
          <a:ln w="15875">
            <a:solidFill>
              <a:srgbClr val="1E5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1325880" y="26609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&amp; vision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25880" y="295351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used for image classification and broader computer-vision tasks.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962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s/layers_0B1F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99" y="3977183"/>
            <a:ext cx="311810" cy="3118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3849624"/>
            <a:ext cx="566928" cy="566928"/>
          </a:xfrm>
          <a:prstGeom prst="ellipse">
            <a:avLst/>
          </a:prstGeom>
          <a:ln w="15875">
            <a:solidFill>
              <a:srgbClr val="1E5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1325880" y="38313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learning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25880" y="412394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learn visual features directly from raw pixels — no manual engineering.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0200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icons/flag_0B1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99" y="5147615"/>
            <a:ext cx="311810" cy="31181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8640" y="5020056"/>
            <a:ext cx="566928" cy="566928"/>
          </a:xfrm>
          <a:prstGeom prst="ellipse">
            <a:avLst/>
          </a:prstGeom>
          <a:ln w="15875">
            <a:solidFill>
              <a:srgbClr val="1E5F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1325880" y="50017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325880" y="529437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architecture — AlexNet or ResNet — best fits a given application.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818120" y="1508760"/>
            <a:ext cx="3794760" cy="4892040"/>
          </a:xfrm>
          <a:prstGeom prst="roundRect">
            <a:avLst>
              <a:gd name="adj" fmla="val 2892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809244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366760" y="2560320"/>
            <a:ext cx="0" cy="1234440"/>
          </a:xfrm>
          <a:prstGeom prst="line">
            <a:avLst/>
          </a:prstGeom>
          <a:noFill/>
          <a:ln w="25400">
            <a:solidFill>
              <a:srgbClr val="3E5A8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8183880" y="2286000"/>
            <a:ext cx="365760" cy="365760"/>
          </a:xfrm>
          <a:prstGeom prst="ellipse">
            <a:avLst/>
          </a:prstGeom>
          <a:solidFill>
            <a:srgbClr val="1E5F8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8732520" y="22311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873252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732520" y="285292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breakthrough — sparks the deep-learning era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366760" y="4069080"/>
            <a:ext cx="0" cy="0"/>
          </a:xfrm>
          <a:prstGeom prst="line">
            <a:avLst/>
          </a:prstGeom>
          <a:noFill/>
          <a:ln w="25400">
            <a:solidFill>
              <a:srgbClr val="3E5A8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8183880" y="3794760"/>
            <a:ext cx="365760" cy="36576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8732520" y="37398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</a:t>
            </a:r>
            <a:endParaRPr lang="en-US" sz="2000" dirty="0"/>
          </a:p>
        </p:txBody>
      </p:sp>
      <p:sp>
        <p:nvSpPr>
          <p:cNvPr id="34" name="Text 28"/>
          <p:cNvSpPr/>
          <p:nvPr/>
        </p:nvSpPr>
        <p:spPr>
          <a:xfrm>
            <a:off x="8732520" y="4087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732520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enable ultra-deep networks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092440" y="5623560"/>
            <a:ext cx="3246120" cy="658368"/>
          </a:xfrm>
          <a:prstGeom prst="rect">
            <a:avLst/>
          </a:prstGeom>
          <a:solidFill>
            <a:srgbClr val="132C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8211312" y="5669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classify images into categories — the difference is how deep, accurate, and efficient they are.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32C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s/bolt_FF6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67779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· The breakthrough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major breakthroughs in deep learning — it achieved excellent results in the ImageNet competition and helped ignite the modern deep-learning boom.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28800" y="4050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layers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4636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~60M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828800" y="4709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52943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15.3%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828800" y="5367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error (ILSVRC '12)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09160" y="502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709160" y="123444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layers_0B1F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374" y="1349654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2161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pooling + fully connected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394960" y="14904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convolutional layers, pooling layers, and fully connected layers in sequence.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09160" y="219456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icons/bolt_0B1F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2309774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94960" y="21762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394960" y="24505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ReLU activation for faster, more stable training than earlier sigmoid/tanh nets.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315468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icons/shield_0B1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4374" y="3269894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3136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regularization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394960" y="341071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dropout to reduce overfitting on the fully connected layers.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09160" y="411480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icons/code_0B1F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4374" y="4230014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94960" y="4096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learning fundamentals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394960" y="43708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simple, linear structure makes it ideal for understanding how CNNs work.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709160" y="507492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icons/image_0B1F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4374" y="5190134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94960" y="5056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for basic classification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394960" y="53309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basic image-classification tasks that don't demand extreme accuracy.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132C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s/link_6FA8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519" y="67779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5320" y="1417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7532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· The deep leap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75320" y="24231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residual ("skip") connections that let networks go far deeper than before — without the accuracy loss that used to come with extra depth.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69264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6FA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275320" y="40507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in the deepest variant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92640" y="4636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6FA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3.57%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275320" y="4709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error (ILSVRC '15)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92640" y="5294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6FA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75320" y="53675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beat human-level accuracy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502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48640" y="123444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link_0B1F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" y="1349654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12161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(skip) connections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234440" y="149047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let gradients flow through very deep stacks without vanishing.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219456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icons/layers_0B1F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" y="2309774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21762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depth, stable training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234440" y="245059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34, 50, 101, even 152 layers while remaining trainable.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15468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icons/chart_0B1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" y="3269894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31363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accuracy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234440" y="34107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step-change accuracy jump over AlexNet-era architectures.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411480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icons/wrench_0B1F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" y="4230014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34440" y="40965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234440" y="43708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activations between layers, speeding convergence at depth.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48640" y="5074920"/>
            <a:ext cx="512064" cy="512064"/>
          </a:xfrm>
          <a:prstGeom prst="ellipse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icons/gauge_0B1F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" y="5190134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34440" y="50566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demanding vision tasks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1234440" y="53309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choice when an application needs maximum classification accuracy.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Fighter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ResNet, side by side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338560" cy="31546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layers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152 layers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innovation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+ dropout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(skip) connections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fundamentals, light tasks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High-accuracy production vision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3"/>
          <p:cNvSpPr/>
          <p:nvPr/>
        </p:nvSpPr>
        <p:spPr>
          <a:xfrm>
            <a:off x="777240" y="5797296"/>
            <a:ext cx="530352" cy="53035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icons/fl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" y="5916625"/>
            <a:ext cx="291694" cy="2916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56235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AlexNet to learn CNN fundamentals or run lightweight classification. Pick ResNet when the application demands top-tier accuracy on complex, large-scale image data.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526</Words>
  <Application>Microsoft Office PowerPoint</Application>
  <PresentationFormat>Widescreen</PresentationFormat>
  <Paragraphs>98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Cambria</vt:lpstr>
      <vt:lpstr>Office Theme</vt:lpstr>
      <vt:lpstr>MILA  ACTIVITY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Kothakota Rakesh</cp:lastModifiedBy>
  <cp:revision>41</cp:revision>
  <dcterms:created xsi:type="dcterms:W3CDTF">2026-08-14T09:05:12Z</dcterms:created>
  <dcterms:modified xsi:type="dcterms:W3CDTF">2026-08-14T09:57:02Z</dcterms:modified>
</cp:coreProperties>
</file>