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08" r:id="rId1"/>
  </p:sldMasterIdLst>
  <p:notesMasterIdLst>
    <p:notesMasterId r:id="rId17"/>
  </p:notesMasterIdLst>
  <p:sldIdLst>
    <p:sldId id="319" r:id="rId2"/>
    <p:sldId id="444" r:id="rId3"/>
    <p:sldId id="443" r:id="rId4"/>
    <p:sldId id="316" r:id="rId5"/>
    <p:sldId id="417" r:id="rId6"/>
    <p:sldId id="420" r:id="rId7"/>
    <p:sldId id="422" r:id="rId8"/>
    <p:sldId id="445" r:id="rId9"/>
    <p:sldId id="421" r:id="rId10"/>
    <p:sldId id="448" r:id="rId11"/>
    <p:sldId id="423" r:id="rId12"/>
    <p:sldId id="419" r:id="rId13"/>
    <p:sldId id="427" r:id="rId14"/>
    <p:sldId id="428" r:id="rId15"/>
    <p:sldId id="44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99"/>
    <a:srgbClr val="FFE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55" autoAdjust="0"/>
    <p:restoredTop sz="95033" autoAdjust="0"/>
  </p:normalViewPr>
  <p:slideViewPr>
    <p:cSldViewPr>
      <p:cViewPr varScale="1">
        <p:scale>
          <a:sx n="82" d="100"/>
          <a:sy n="82" d="100"/>
        </p:scale>
        <p:origin x="643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8B2BDBFC-A737-4674-95A6-BD8FC3BBB88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57087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3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/>
            <a:fld id="{D9FA2010-55FA-4547-918F-B81D2B6C3183}" type="slidenum">
              <a:rPr lang="en-US" smtClean="0">
                <a:solidFill>
                  <a:srgbClr val="000000"/>
                </a:solidFill>
                <a:latin typeface="Calibri" pitchFamily="34" charset="0"/>
              </a:rPr>
              <a:pPr eaLnBrk="1" hangingPunct="1"/>
              <a:t>1</a:t>
            </a:fld>
            <a:endParaRPr lang="en-US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6227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D1301E2-06EF-4199-A0C2-61C79D07C605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2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63862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445B1B0D-FD3A-430C-B5E7-9A25F0634E5E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4175" y="685800"/>
            <a:ext cx="6083300" cy="34226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74" name="Text Box 4"/>
          <p:cNvSpPr txBox="1">
            <a:spLocks noChangeArrowheads="1"/>
          </p:cNvSpPr>
          <p:nvPr/>
        </p:nvSpPr>
        <p:spPr bwMode="auto">
          <a:xfrm>
            <a:off x="685800" y="4343400"/>
            <a:ext cx="5480050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73DF8-1B35-D161-829D-B5D6DE552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E5931D-96D5-335B-96A2-203B20075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FC5A7-2036-1B4A-4066-BFF3A33E7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66599-84A2-F3DC-E232-5695562F08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231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FDD00-DCAF-AA87-9B69-BBF63B40D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47D253-FE6B-DC68-5CE4-C66BF82C1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28D06-E3A1-45F5-A0E4-513B2D9AE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EC372-FF39-0107-4314-C7A156D45D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45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2015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8665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4551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BB88F-1362-B8F2-98B4-49057AA30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28A9F4-9915-1BF3-C5F1-B701BB7794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5F178-1B36-B6DB-C78F-5D1F62435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927A3-CEC5-5D25-D42F-BCF10042D2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05667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6739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F811D-EC9E-7484-99F4-79F9E2BB7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184080-E6FA-1F06-7AEA-C3A1A9109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4FCD66-DA33-A49C-8555-B1EC895DD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427F7-461F-B3F3-31F3-958A539B91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41348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83813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93610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4327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271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F78D47-8FFD-4512-8D28-D7D30AA2420B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4C9596-1561-4F47-B169-6589373C9CB0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CFAFF28D-056B-81A1-62F2-07F88859E14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550400" y="152401"/>
            <a:ext cx="2641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2000" u="sng">
                <a:latin typeface="AvantGarde" pitchFamily="34" charset="0"/>
                <a:ea typeface="宋体" pitchFamily="2" charset="-122"/>
              </a:rPr>
              <a:t>Outline</a:t>
            </a:r>
          </a:p>
        </p:txBody>
      </p:sp>
      <p:sp>
        <p:nvSpPr>
          <p:cNvPr id="8" name="AutoShape 2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7A7CF49F-15DA-E268-1B1A-1AAE3A5AC5C8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9499600" y="43933"/>
            <a:ext cx="304800" cy="369332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 sz="1800"/>
          </a:p>
        </p:txBody>
      </p:sp>
      <p:sp>
        <p:nvSpPr>
          <p:cNvPr id="9" name="AutoShape 2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EE770844-359D-37B1-9BEF-A7A6C0FA0D60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9499600" y="424934"/>
            <a:ext cx="304800" cy="369332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 sz="1800"/>
          </a:p>
        </p:txBody>
      </p:sp>
      <p:sp>
        <p:nvSpPr>
          <p:cNvPr id="10" name="Rectangle 25">
            <a:extLst>
              <a:ext uri="{FF2B5EF4-FFF2-40B4-BE49-F238E27FC236}">
                <a16:creationId xmlns:a16="http://schemas.microsoft.com/office/drawing/2014/main" id="{09DC5548-DBB7-FA08-9446-EA045B5D63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940800" y="838200"/>
            <a:ext cx="32512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0"/>
              </a:spcBef>
              <a:defRPr/>
            </a:pPr>
            <a:endParaRPr lang="zh-CN" altLang="en-US" sz="1400" b="1">
              <a:solidFill>
                <a:schemeClr val="tx1"/>
              </a:solidFill>
              <a:latin typeface="AvantGarde" pitchFamily="34" charset="0"/>
              <a:ea typeface="宋体" pitchFamily="2" charset="-122"/>
            </a:endParaRPr>
          </a:p>
        </p:txBody>
      </p:sp>
      <p:sp>
        <p:nvSpPr>
          <p:cNvPr id="11" name="Text Box 30">
            <a:extLst>
              <a:ext uri="{FF2B5EF4-FFF2-40B4-BE49-F238E27FC236}">
                <a16:creationId xmlns:a16="http://schemas.microsoft.com/office/drawing/2014/main" id="{DBE1BA00-9ED1-CE7F-D7F7-182001AC4A1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400801"/>
            <a:ext cx="8839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solidFill>
                  <a:schemeClr val="tx1"/>
                </a:solidFill>
                <a:ea typeface="宋体" pitchFamily="2" charset="-122"/>
              </a:rPr>
              <a:t>© Copyright 1992–2004 by Deitel &amp; Associates, Inc. and Pearson Education Inc. All Rights Reserved</a:t>
            </a:r>
            <a:r>
              <a:rPr lang="en-US" altLang="zh-CN" sz="1800">
                <a:solidFill>
                  <a:schemeClr val="tx1"/>
                </a:solidFill>
                <a:latin typeface="AvantGarde" pitchFamily="34" charset="0"/>
                <a:ea typeface="宋体" pitchFamily="2" charset="-122"/>
              </a:rPr>
              <a:t>.</a:t>
            </a:r>
            <a:endParaRPr lang="en-US" altLang="zh-CN" sz="1800">
              <a:solidFill>
                <a:schemeClr val="tx1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8496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5548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2CB087-0400-4922-9F91-7DC9C4839E49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98A58D-B9CE-4CA6-847A-291E9451A79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2065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C68D67-6EB7-4DC7-9727-8391EC2B56EB}" type="datetime1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37AD23-FB29-4133-9724-124394767C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9967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034FBC-27D4-4810-9F83-B836C1894235}" type="datetime1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283AFB-95D9-4C50-9E69-CCF772E78D2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238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852B12-B03F-401A-B09A-22FF8A471D26}" type="datetime1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07ACE5-6DCF-44B1-BCE5-AED4F1432B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2383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DBACEB-86B6-4549-86D9-546E8B661F1D}" type="datetime1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38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43E961-2071-4164-A816-F9134ED2D6BA}" type="datetime1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0F9606-3640-4612-B129-D14368C5360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6462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0EB93D-55FD-41C9-8418-0659BC3F3680}" type="datetime1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C7D8D7-F45D-4981-8A87-AE77D5099B4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8232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339E02-518C-45D4-AFEA-20FF5E86475A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47999E-7031-42ED-94DE-C845CFFA06BB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4151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03D3B3-07F5-4EA3-B17D-BBF195AEF26D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008B66-D13B-4331-A839-75D7D9B9D9C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6947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EE1A3FC-59CE-474D-9569-50AD22CC8E28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B166E11-64E3-4F73-B04E-7F106BCFFF09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3484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AutoShape 3"/>
          <p:cNvSpPr>
            <a:spLocks noChangeArrowheads="1"/>
          </p:cNvSpPr>
          <p:nvPr/>
        </p:nvSpPr>
        <p:spPr bwMode="auto">
          <a:xfrm>
            <a:off x="3657600" y="2057401"/>
            <a:ext cx="5943600" cy="8032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8" name="Text Box 2"/>
          <p:cNvSpPr txBox="1">
            <a:spLocks noChangeArrowheads="1"/>
          </p:cNvSpPr>
          <p:nvPr/>
        </p:nvSpPr>
        <p:spPr bwMode="auto">
          <a:xfrm>
            <a:off x="1180322" y="2023189"/>
            <a:ext cx="10210800" cy="1370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marL="365125"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ctr">
              <a:defRPr sz="2200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Intrusion Detection System in Mobile Phone Systems Using Deep Belief Network (DBN)</a:t>
            </a:r>
          </a:p>
          <a:p>
            <a:pPr lvl="1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MLA0403 – Deep Learning</a:t>
            </a:r>
            <a:endParaRPr lang="en-US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z="1400" b="1">
                <a:solidFill>
                  <a:schemeClr val="tx1"/>
                </a:solidFill>
              </a:rPr>
              <a:pPr>
                <a:defRPr/>
              </a:pPr>
              <a:t>1</a:t>
            </a:fld>
            <a:endParaRPr lang="en-US" altLang="zh-CN" sz="1400" b="1" dirty="0">
              <a:solidFill>
                <a:schemeClr val="tx1"/>
              </a:solidFill>
            </a:endParaRPr>
          </a:p>
        </p:txBody>
      </p:sp>
      <p:pic>
        <p:nvPicPr>
          <p:cNvPr id="2" name="Picture 2" descr="SSE-Computer Science and Engineering">
            <a:extLst>
              <a:ext uri="{FF2B5EF4-FFF2-40B4-BE49-F238E27FC236}">
                <a16:creationId xmlns:a16="http://schemas.microsoft.com/office/drawing/2014/main" id="{04655572-62AA-D50A-E101-7C3CEAC14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72" y="533400"/>
            <a:ext cx="10719456" cy="990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80B2151-BE31-7852-3F85-D41A79A2B8B3}"/>
              </a:ext>
            </a:extLst>
          </p:cNvPr>
          <p:cNvSpPr/>
          <p:nvPr/>
        </p:nvSpPr>
        <p:spPr>
          <a:xfrm>
            <a:off x="152400" y="5105400"/>
            <a:ext cx="3962400" cy="1752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algn="ctr"/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Dr.A.M.Arul Raj</a:t>
            </a:r>
          </a:p>
          <a:p>
            <a:pPr algn="ctr"/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09C2FD-FE74-4ABE-F804-07003187930B}"/>
              </a:ext>
            </a:extLst>
          </p:cNvPr>
          <p:cNvSpPr/>
          <p:nvPr/>
        </p:nvSpPr>
        <p:spPr>
          <a:xfrm>
            <a:off x="7086600" y="4374511"/>
            <a:ext cx="5638800" cy="231775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Names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Kothakota Rakesh</a:t>
            </a:r>
          </a:p>
          <a:p>
            <a:pPr algn="ctr"/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Shaik Rafiqhuddin</a:t>
            </a:r>
          </a:p>
          <a:p>
            <a:pPr algn="ctr"/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Akash</a:t>
            </a:r>
            <a:b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Santhosh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 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4026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par>
              <p:cTn id="2" fill="hold" nodeType="interactiveSeq">
                <p:stCondLst>
                  <p:cond delay="0"/>
                </p:stCondLst>
                <p:childTnLst>
                  <p:par>
                    <p:cTn id="3" fill="hold"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/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BD647-A7AE-67FE-F5D8-F0B1D08B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B76F1-5D41-6B25-DB36-386F2795B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325" y="1422242"/>
            <a:ext cx="7499350" cy="792162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Abstract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1266C-35D3-8D24-EBA3-91AD3C9F4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355286"/>
            <a:ext cx="10210800" cy="2147428"/>
          </a:xfrm>
        </p:spPr>
        <p:txBody>
          <a:bodyPr>
            <a:noAutofit/>
          </a:bodyPr>
          <a:lstStyle/>
          <a:p>
            <a:pPr>
              <a:defRPr sz="22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devices are increasingly targeted by cyber attacks.</a:t>
            </a:r>
          </a:p>
          <a:p>
            <a:pPr>
              <a:defRPr sz="22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Deep Belief Network (DBN) learns patterns from network traffic.</a:t>
            </a:r>
          </a:p>
          <a:p>
            <a:pPr>
              <a:defRPr sz="22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detects malicious activities with high accuracy.</a:t>
            </a:r>
          </a:p>
          <a:p>
            <a:pPr>
              <a:defRPr sz="22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mobile network security through intelligent intrusion detection.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64429-E5ED-D04D-455E-9CD16B2D3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2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7E6A4071-3DA5-B69A-C498-684731D73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670" y="354968"/>
            <a:ext cx="8507730" cy="1074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1031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AA383-D455-43CB-3883-5C0CECB79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729AE-D481-B78B-BFFB-EB6158196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325" y="1037648"/>
            <a:ext cx="7499350" cy="792162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Aim and Objective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FDEF0-AD0C-9BFB-6E5D-7D68B25AA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2148433"/>
            <a:ext cx="5105400" cy="4390479"/>
          </a:xfrm>
        </p:spPr>
        <p:txBody>
          <a:bodyPr>
            <a:noAutofit/>
          </a:bodyPr>
          <a:lstStyle/>
          <a:p>
            <a:pPr marL="365760" indent="-283464" algn="just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intelligent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Intrusion Detection System (IDS)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mobile phone networks using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Belief Network (DBN)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65760" indent="-283464" algn="just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accuracy of detecting cyberattacks while reducing false alarms and enhancing mobile network security.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49EC9-E9AC-78CE-9568-5B6F6F214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3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B6C61642-1D4B-1734-B97B-9D1655E2F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FF93A3-2D93-03BB-EBA8-32B878F29AEC}"/>
              </a:ext>
            </a:extLst>
          </p:cNvPr>
          <p:cNvSpPr txBox="1"/>
          <p:nvPr/>
        </p:nvSpPr>
        <p:spPr>
          <a:xfrm>
            <a:off x="5943600" y="2266180"/>
            <a:ext cx="59436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preprocess mobile network traffic data for model training.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Belief Network (DBN)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distinguish between normal and malicious network behaviour.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and classify different types of network intrusions with high accuracy and low false alarm rates.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real-time security alerts to help protect mobile devices and networks from cyber threats.</a:t>
            </a:r>
          </a:p>
        </p:txBody>
      </p:sp>
    </p:spTree>
    <p:extLst>
      <p:ext uri="{BB962C8B-B14F-4D97-AF65-F5344CB8AC3E}">
        <p14:creationId xmlns:p14="http://schemas.microsoft.com/office/powerpoint/2010/main" val="1716889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6325" y="1422242"/>
            <a:ext cx="7499350" cy="792162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427738"/>
            <a:ext cx="11734800" cy="4075294"/>
          </a:xfrm>
        </p:spPr>
        <p:txBody>
          <a:bodyPr>
            <a:noAutofit/>
          </a:bodyPr>
          <a:lstStyle/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phones have become an essential part of daily life, making them a common target for cyber attacks such as malware, phishing, and unauthorized access. 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intrusion detection systems often fail to detect new and sophisticated attacks due to their reliance on predefined signatures.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4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B047F31A-2633-AEA2-CF58-C78E2A508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326959-513D-75A1-B0E3-16710E4E0B7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7464" y="3856653"/>
            <a:ext cx="3435936" cy="2290624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DAD9724-F06D-A3FC-6652-5FE3F296C2F5}"/>
              </a:ext>
            </a:extLst>
          </p:cNvPr>
          <p:cNvSpPr txBox="1">
            <a:spLocks/>
          </p:cNvSpPr>
          <p:nvPr/>
        </p:nvSpPr>
        <p:spPr>
          <a:xfrm>
            <a:off x="228600" y="3886200"/>
            <a:ext cx="8153400" cy="22906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techniques, especially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Belief Networks (DBN)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can automatically learn complex patterns from network traffic and identify both known and unknown intrusions.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DBN-based Intrusion Detection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the accuracy, efficiency, and reliability of mobile network security through intelligent attack detection.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816942"/>
            <a:ext cx="8626475" cy="792162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Literature Review &amp; Requirement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5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DB5021AF-5820-45F8-8E9E-0CED02536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786" y="147410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BD6001-E4CB-CB1E-3B44-3ABD3DE21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201185"/>
              </p:ext>
            </p:extLst>
          </p:nvPr>
        </p:nvGraphicFramePr>
        <p:xfrm>
          <a:off x="457200" y="1847093"/>
          <a:ext cx="11468102" cy="453102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17794">
                  <a:extLst>
                    <a:ext uri="{9D8B030D-6E8A-4147-A177-3AD203B41FA5}">
                      <a16:colId xmlns:a16="http://schemas.microsoft.com/office/drawing/2014/main" val="492927034"/>
                    </a:ext>
                  </a:extLst>
                </a:gridCol>
                <a:gridCol w="1863567">
                  <a:extLst>
                    <a:ext uri="{9D8B030D-6E8A-4147-A177-3AD203B41FA5}">
                      <a16:colId xmlns:a16="http://schemas.microsoft.com/office/drawing/2014/main" val="3580393463"/>
                    </a:ext>
                  </a:extLst>
                </a:gridCol>
                <a:gridCol w="2033540">
                  <a:extLst>
                    <a:ext uri="{9D8B030D-6E8A-4147-A177-3AD203B41FA5}">
                      <a16:colId xmlns:a16="http://schemas.microsoft.com/office/drawing/2014/main" val="3623608211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762830139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114339948"/>
                    </a:ext>
                  </a:extLst>
                </a:gridCol>
                <a:gridCol w="1604685">
                  <a:extLst>
                    <a:ext uri="{9D8B030D-6E8A-4147-A177-3AD203B41FA5}">
                      <a16:colId xmlns:a16="http://schemas.microsoft.com/office/drawing/2014/main" val="3725357130"/>
                    </a:ext>
                  </a:extLst>
                </a:gridCol>
                <a:gridCol w="1671916">
                  <a:extLst>
                    <a:ext uri="{9D8B030D-6E8A-4147-A177-3AD203B41FA5}">
                      <a16:colId xmlns:a16="http://schemas.microsoft.com/office/drawing/2014/main" val="2652510508"/>
                    </a:ext>
                  </a:extLst>
                </a:gridCol>
              </a:tblGrid>
              <a:tr h="689504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of 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Journal / 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  <a:p>
                      <a:endParaRPr lang="en-IN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257610"/>
                  </a:ext>
                </a:extLst>
              </a:tr>
              <a:tr h="1280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Sharma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 Network Intrusion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detection accuracy, reduced false positives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7075762"/>
                  </a:ext>
                </a:extLst>
              </a:tr>
              <a:tr h="1280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Wang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IDS for Mobile 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Extraction +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DBN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detection of unknown attacks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5261805"/>
                  </a:ext>
                </a:extLst>
              </a:tr>
              <a:tr h="1280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for Network 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Preprocessing &amp;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DBN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accuracy and faster intrusion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4682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0616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7049" y="1371600"/>
            <a:ext cx="7499350" cy="792162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353452"/>
            <a:ext cx="11049000" cy="3209148"/>
          </a:xfrm>
        </p:spPr>
        <p:txBody>
          <a:bodyPr>
            <a:no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cyber threats targeting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phone networks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intrusion detection systems have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accuracy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against unknown attacks.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volumes of network traffic make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threat detection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difficult.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Belief Network (DBN)-based Intrusion Detection System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accurate, intelligent, and real-time attack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6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6F13DE02-BBC8-728C-D681-DB3D5A760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2674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36825" y="1295400"/>
            <a:ext cx="7499350" cy="792162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Existing System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762000" y="2667000"/>
            <a:ext cx="11049000" cy="304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Signature-based Intrusion Detection Systems (IDS)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widely used.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known attacks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predefined attack signatures. 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detection accuracy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new or zero-day attacks.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 and false negative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rates in mobile networks.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analysis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adaptability to evolving cyber threats.</a:t>
            </a: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841B0539-C8EA-378C-F83B-4C3CCA563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1777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87269-CE8A-8B51-4415-0C74C2FDC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C4D6F-8CC9-CD64-E40C-22419340F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1233488"/>
            <a:ext cx="7499350" cy="792162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Proposed  System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C42CB-C169-FC3B-1F95-5553E3B4B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0CDBED8-4DF6-5641-5D4F-44F15CAA75A3}"/>
              </a:ext>
            </a:extLst>
          </p:cNvPr>
          <p:cNvSpPr txBox="1">
            <a:spLocks/>
          </p:cNvSpPr>
          <p:nvPr/>
        </p:nvSpPr>
        <p:spPr>
          <a:xfrm>
            <a:off x="594049" y="2259520"/>
            <a:ext cx="10744200" cy="304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Belief Network (DBN)-based Intrusion Detection System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mobile phone networks.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preprocess mobile network traffic for effective feature learning.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and classify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and unknown cyber attacks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high accuracy.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intrusion alerts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enhance network security.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detection performance while reducing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positives and false negatives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FEAA2EC3-51B5-BC62-F4F7-A939B69E3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844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9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7C5E1F9D-B9A3-D9EB-905C-0AEABF9CF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40929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032BB9A-54B9-6086-AB37-676F29B438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295400"/>
            <a:ext cx="102870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006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3B9B0-24AC-7E5B-953F-9E32171D0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73B74-BC1E-F666-9CB0-F4726E267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073" y="334097"/>
            <a:ext cx="7499350" cy="792162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Sustainable Development Goal (SDG)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A0685F-D258-E136-F318-FB39EBED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10</a:t>
            </a:fld>
            <a:endParaRPr lang="en-US" altLang="zh-CN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38EE094-0880-C93B-26EF-1CB4373E4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5071" y="275101"/>
            <a:ext cx="624528" cy="827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9">
            <a:extLst>
              <a:ext uri="{FF2B5EF4-FFF2-40B4-BE49-F238E27FC236}">
                <a16:creationId xmlns:a16="http://schemas.microsoft.com/office/drawing/2014/main" id="{8BC9CD6A-946D-BCFB-51C4-79CF65322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84578"/>
            <a:ext cx="88582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6CE38-87E1-16DD-7917-E4CC93DDCEB1}"/>
              </a:ext>
            </a:extLst>
          </p:cNvPr>
          <p:cNvSpPr txBox="1">
            <a:spLocks/>
          </p:cNvSpPr>
          <p:nvPr/>
        </p:nvSpPr>
        <p:spPr>
          <a:xfrm>
            <a:off x="1219200" y="2317602"/>
            <a:ext cx="9220200" cy="30280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9 – Industry, Innovation and Infrastructure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SDG  9?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project uses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(Deep Learning)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strengthen digital infrastructure and improve cybersecurity in mobile networks.</a:t>
            </a:r>
          </a:p>
        </p:txBody>
      </p:sp>
    </p:spTree>
    <p:extLst>
      <p:ext uri="{BB962C8B-B14F-4D97-AF65-F5344CB8AC3E}">
        <p14:creationId xmlns:p14="http://schemas.microsoft.com/office/powerpoint/2010/main" val="3422508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6325" y="1600200"/>
            <a:ext cx="7499350" cy="792162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Proposed Methodology and Algorithm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260985" y="2480388"/>
            <a:ext cx="11702415" cy="40226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mobile network traffic dataset (e.g.,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NSL-KDD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CICIDS2017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data by cleaning, normalizing, and selecting relevant features.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Belief Network (DBN)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learn normal and malicious traffic patterns.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and classify intrusions, then generate real-time security alerts.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Deep Belief Network (DBN)</a:t>
            </a: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B11E6B4E-71DE-962E-DC93-5159412AB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54968"/>
            <a:ext cx="8507730" cy="864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125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7912" y="964573"/>
            <a:ext cx="7499350" cy="792162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Design &amp; Module Planning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12</a:t>
            </a:fld>
            <a:endParaRPr lang="en-US" altLang="zh-CN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0" y="159090"/>
            <a:ext cx="624528" cy="827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04148"/>
            <a:ext cx="88582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65E29-3909-BB2C-BA0E-835AACDF4EE6}"/>
              </a:ext>
            </a:extLst>
          </p:cNvPr>
          <p:cNvSpPr txBox="1">
            <a:spLocks/>
          </p:cNvSpPr>
          <p:nvPr/>
        </p:nvSpPr>
        <p:spPr>
          <a:xfrm>
            <a:off x="914400" y="1705116"/>
            <a:ext cx="9982200" cy="320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296" indent="0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 marL="365760" indent="-283464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Data Collection &amp; Preprocessing</a:t>
            </a:r>
          </a:p>
          <a:p>
            <a:pPr marL="365760" indent="-283464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Feature Extraction</a:t>
            </a:r>
          </a:p>
          <a:p>
            <a:pPr marL="365760" indent="-283464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DBN Model Training &amp; Testing</a:t>
            </a:r>
          </a:p>
          <a:p>
            <a:pPr marL="365760" indent="-283464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Intrusion Detection &amp; Alert Generation</a:t>
            </a:r>
            <a:endParaRPr 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04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291" y="1177163"/>
            <a:ext cx="7499350" cy="792162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13</a:t>
            </a:fld>
            <a:endParaRPr lang="en-US" altLang="zh-CN"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E6ECBA5D-B29C-DAFD-42C9-911BFD401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67B8FA-7184-8182-1D3D-539E51E6D9F4}"/>
              </a:ext>
            </a:extLst>
          </p:cNvPr>
          <p:cNvSpPr txBox="1"/>
          <p:nvPr/>
        </p:nvSpPr>
        <p:spPr>
          <a:xfrm>
            <a:off x="533400" y="2203418"/>
            <a:ext cx="11125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Belief Network (DBN)-based Intrusion Detection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mobile phone network security.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detection of both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and unknown cyber attacks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deep learning.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network security with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intrusion detection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alert generation.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the potential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Deep Learning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accurate, reliable, and scalable cybersecurity solutions for mobile networks.</a:t>
            </a:r>
          </a:p>
        </p:txBody>
      </p:sp>
    </p:spTree>
    <p:extLst>
      <p:ext uri="{BB962C8B-B14F-4D97-AF65-F5344CB8AC3E}">
        <p14:creationId xmlns:p14="http://schemas.microsoft.com/office/powerpoint/2010/main" val="3945476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0409" y="1181878"/>
            <a:ext cx="7499350" cy="792162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381000" y="1974040"/>
            <a:ext cx="11353800" cy="4274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Ian Goodfellow, Yoshua Bengio, and Aaron Courville,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MIT Press, Cambridge, Massachusetts,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1st Edition, 2016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Deep Learning fundamentals, Neural Networks, Deep Belief Networks (DBN), model training, and optimization.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Behrouz A. Forouzan,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Communications and Networking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 Education,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5th Edition, 2017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.Mobile communication networks, network protocols, packet transmission, and network architecture.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Faheem Syeed Masoodi and Alwi Bamhdi (Editors),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for Intrusion Detection: Techniques and Applications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Wiley &amp; Sons,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1st Edition, 2025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.Deep Learning, Intrusion Detection Systems (IDS), Wireless Networks, IoT Security, Zero-Day Attack Detection.</a:t>
            </a:r>
          </a:p>
          <a:p>
            <a:pPr algn="just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Eoffrey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E. Hinton, Simon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Osindero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Yee-Whye Teh,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Fast Learning Algorithm for Deep Belief Nets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Neural Computation, Vol. 18, No. 7, 2006, pp. 1527–1554.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Aheem Syeed Masoodi and Alwi Bamhdi (Eds.),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for Intrusion Detection: Techniques and Applications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Wiley, 1st Edition, 2025.</a:t>
            </a: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37C45DA2-5E82-C263-C424-8559C1B63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6799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97323-C313-139E-50F4-87F8AF5F9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66D162-921C-F9E5-2687-1141E0CF4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094708-7BCD-F585-EA3D-6FF0DF92F04A}"/>
              </a:ext>
            </a:extLst>
          </p:cNvPr>
          <p:cNvSpPr txBox="1"/>
          <p:nvPr/>
        </p:nvSpPr>
        <p:spPr>
          <a:xfrm>
            <a:off x="1872761" y="2549769"/>
            <a:ext cx="90472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pitchFamily="82" charset="0"/>
              </a:rPr>
              <a:t>THANK YOU!!!</a:t>
            </a:r>
          </a:p>
        </p:txBody>
      </p:sp>
    </p:spTree>
    <p:extLst>
      <p:ext uri="{BB962C8B-B14F-4D97-AF65-F5344CB8AC3E}">
        <p14:creationId xmlns:p14="http://schemas.microsoft.com/office/powerpoint/2010/main" val="2659992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5956</TotalTime>
  <Words>971</Words>
  <Application>Microsoft Office PowerPoint</Application>
  <PresentationFormat>Widescreen</PresentationFormat>
  <Paragraphs>137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宋体</vt:lpstr>
      <vt:lpstr>Algerian</vt:lpstr>
      <vt:lpstr>Arial</vt:lpstr>
      <vt:lpstr>AvantGarde</vt:lpstr>
      <vt:lpstr>Calibri</vt:lpstr>
      <vt:lpstr>Calibri Light</vt:lpstr>
      <vt:lpstr>Times New Roman</vt:lpstr>
      <vt:lpstr>Wingdings 2</vt:lpstr>
      <vt:lpstr>Office 2013 - 2022 Theme</vt:lpstr>
      <vt:lpstr>PowerPoint Presentation</vt:lpstr>
      <vt:lpstr>Abstract </vt:lpstr>
      <vt:lpstr>Aim and Objective </vt:lpstr>
      <vt:lpstr>Introduction</vt:lpstr>
      <vt:lpstr>Literature Review &amp; Requirement Analysis</vt:lpstr>
      <vt:lpstr>Problem Statement</vt:lpstr>
      <vt:lpstr>Existing System </vt:lpstr>
      <vt:lpstr>Proposed  System </vt:lpstr>
      <vt:lpstr>PowerPoint Presentation</vt:lpstr>
      <vt:lpstr>Sustainable Development Goal (SDG) Implementation</vt:lpstr>
      <vt:lpstr>Proposed Methodology and Algorithm  </vt:lpstr>
      <vt:lpstr>Design &amp; Module Planning</vt:lpstr>
      <vt:lpstr>Conclusion</vt:lpstr>
      <vt:lpstr>References</vt:lpstr>
      <vt:lpstr>PowerPoint Presentation</vt:lpstr>
    </vt:vector>
  </TitlesOfParts>
  <Company>Deitel &amp; Associates,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kalid</dc:creator>
  <cp:lastModifiedBy>Kothakota Rakesh</cp:lastModifiedBy>
  <cp:revision>429</cp:revision>
  <dcterms:created xsi:type="dcterms:W3CDTF">2000-07-06T15:05:59Z</dcterms:created>
  <dcterms:modified xsi:type="dcterms:W3CDTF">2026-08-12T02:49:17Z</dcterms:modified>
</cp:coreProperties>
</file>